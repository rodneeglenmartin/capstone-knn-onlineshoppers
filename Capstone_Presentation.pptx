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DD8452"/>
                </a:solidFill>
                <a:latin typeface="Calibri"/>
              </a:rPr>
              <a:t>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Predicting Online Shoppers’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Purchase 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3887"/>
            <a:ext cx="1124712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Calibri"/>
              </a:rPr>
              <a:t>A k-Nearest Neighbors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Dataset: UCI Online Shoppers Purchasing Intention  •  12,330 sessions  •  17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01  •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How This Talk Is Organized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i="1" dirty="0">
                <a:solidFill>
                  <a:srgbClr val="556070"/>
                </a:solidFill>
                <a:latin typeface="Calibri"/>
              </a:rPr>
              <a:t>F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rom the question to the answer to the caveats.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6596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are we trying to predict?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44144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4414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414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does the dataset look like?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91693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91693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91693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 the features tell us?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39242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9242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39242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9242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does kNN work, and how did we build it?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86791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Tuning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867912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did we choose the value of k?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34340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4340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34340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well does it actually perform?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481888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818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1888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81888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Cross-validation and baseline comparison.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29437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2943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Limits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529437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Where the model breaks down.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576986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76986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76986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576986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we learned and what comes next.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02  •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Most online sessions never become a purchase. Can we predict which ones will?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548640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E-commerce sites get millions of sessions, but only a small fraction convert.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Knowing in advance which sessions are likely to buy lets the business intervene — discounts, live chat, retargeting.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Goal: given a session’s behavior and metadata, predict whether it will end in a purchase.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486400" cy="402336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ML 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Binary classification: 1 = purchase, 0 = no purchase.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Highly imbalanced — only 15.47% of sessions are positives.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Therefore: accuracy alone is misleading. Must report precision, recall, and F1.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Algorithm of choice: k-Nearest Neighbors, implemented from scratch in NumPy.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03  •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UCI Online Shoppers Purchasing Intention — 12,330 real e-commerce sessions.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12,330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in dataset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Predictor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15.47%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that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2396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5.46 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No-buy : Buy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Feature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Page visits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9319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Administrative, Informational, ProductRelated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How many pages of each kind were viewed.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0682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Time spent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30682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*_Duration columns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068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Total seconds on each page type.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Google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6817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BounceRates, ExitRates, PageValues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6817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Site-side metrics; PageValues is highly predictive.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5663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Calendar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05663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SpecialDay, 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566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Closeness to holidays; visit month.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315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Tech metadata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43153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OperatingSystems, Browser, Region, TrafficType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43153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User connection profile.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Visitor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8064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VisitorType, Weekend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06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Returning vs. new; weekend flag.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For Every 1 Buyer, ~5.5 People Just Browsed and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This is normal for e-commerce, but it shapes the entire evaluation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126480" cy="43235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920240"/>
            <a:ext cx="493776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0372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The "Accuracy Trap"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6060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 model that always says "No-Buy" is right 84.5%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That’s an 84% accuracy with zero learning.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So accuracy alone is not a passing grade.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We commit upfront to reporting precision, recall, F1, and the confusion matrix.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Feature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Some Features Are Saying the Same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Multicollinearity matters for kNN — duplicate signals get double-counted in distance.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736384" cy="4709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828800"/>
            <a:ext cx="429768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96596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Notable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514600"/>
            <a:ext cx="4023360" cy="14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600" dirty="0" err="1">
                <a:solidFill>
                  <a:srgbClr val="1A1A1A"/>
                </a:solidFill>
                <a:latin typeface="Calibri"/>
              </a:rPr>
              <a:t>BounceRates</a:t>
            </a:r>
            <a:r>
              <a:rPr sz="1600" dirty="0">
                <a:solidFill>
                  <a:srgbClr val="1A1A1A"/>
                </a:solidFill>
                <a:latin typeface="Calibri"/>
              </a:rPr>
              <a:t> ↔ </a:t>
            </a:r>
            <a:r>
              <a:rPr sz="1600" dirty="0" err="1">
                <a:solidFill>
                  <a:srgbClr val="1A1A1A"/>
                </a:solidFill>
                <a:latin typeface="Calibri"/>
              </a:rPr>
              <a:t>ExitRates</a:t>
            </a:r>
            <a:r>
              <a:rPr sz="1600" dirty="0">
                <a:solidFill>
                  <a:srgbClr val="1A1A1A"/>
                </a:solidFill>
                <a:latin typeface="Calibri"/>
              </a:rPr>
              <a:t>:  r = 0.913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600" dirty="0" err="1">
                <a:solidFill>
                  <a:srgbClr val="1A1A1A"/>
                </a:solidFill>
                <a:latin typeface="Calibri"/>
              </a:rPr>
              <a:t>ProductRelated</a:t>
            </a:r>
            <a:r>
              <a:rPr sz="1600" dirty="0">
                <a:solidFill>
                  <a:srgbClr val="1A1A1A"/>
                </a:solidFill>
                <a:latin typeface="Calibri"/>
              </a:rPr>
              <a:t> </a:t>
            </a:r>
            <a:endParaRPr lang="en-US" sz="1600" dirty="0">
              <a:solidFill>
                <a:srgbClr val="1A1A1A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PH" sz="1600" dirty="0">
                <a:solidFill>
                  <a:srgbClr val="1A1A1A"/>
                </a:solidFill>
                <a:latin typeface="Calibri"/>
              </a:rPr>
              <a:t>	↔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dirty="0" err="1">
                <a:solidFill>
                  <a:srgbClr val="1A1A1A"/>
                </a:solidFill>
                <a:latin typeface="Calibri"/>
              </a:rPr>
              <a:t>ProductRelated_Duration</a:t>
            </a:r>
            <a:r>
              <a:rPr sz="1600" dirty="0">
                <a:solidFill>
                  <a:srgbClr val="1A1A1A"/>
                </a:solidFill>
                <a:latin typeface="Calibri"/>
              </a:rPr>
              <a:t>:  r = 0.861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2976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kNN measures distance using all features at once.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Duplicate features inflate that behavior’s influence on neighbor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Strongest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PageValues: The Single Most Predictive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Buyers arrive at high-value pages; non-buyers don’t.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_pagevalu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mean: 27.26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1.98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13.8× difference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median: literally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Strong class separability is exactly what kNN exploits.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Engagement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Buyers Stay. Non-Buyers Drift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BounceRate captures the difference between intent and casual browsing.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_bouncerat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Engagement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 bounce: 0.0051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0.0253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Roughly 5× higher for non-buyers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median: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Engagement depth is strongly tied to purchase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Temporal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November Is the Month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Conversion rate isn’t flat across the year. It spikes during holiday shopping.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5_purchase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772400" cy="38360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920240"/>
            <a:ext cx="33832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49640" y="2057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Conversion by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Feb:    1.63%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Mar:    10.03%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May:    10.85%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Jul:    15.28%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Sep:    19.07%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Nov:    25.35%  ← 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50292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DD8452"/>
                </a:solidFill>
                <a:latin typeface="Calibri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Month one-hots give the model a strong prior.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Counter-intuitive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New Visitors Convert Better Than Returning Visitors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surprising result — and exactly the kind of insight a stakeholder would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6_visito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949440" cy="4191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920240"/>
            <a:ext cx="42062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2057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6060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New visitors: 24.91%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Returning visitors: 13.93%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Almost 2× higher for new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7548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DD8452"/>
                </a:solidFill>
                <a:latin typeface="Calibri"/>
              </a:rPr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9834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New visitors arrive with high intent (clicked an ad, searched for the product).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Returning visitors include a lot of casual browsers who keep coming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How kNN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k-Nearest Neighbors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No training step. Just measure distance to every known example and vote.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057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Subtract the training mean and divide by the training std for every feature, so no feature dominates by sheer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313639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Measure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01752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For a new session, compute Euclidean distance to every training point: √Σ(xᵢ − tᵢ)².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09651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776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Pick the k closest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7764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Sort by distance and keep the k smallest — those are the k most similar past sessions.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4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505663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9377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Majority vote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93776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Look at their Revenue labels. Whichever class appears more often wins. That’s the prediction.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Implementation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F3A5F"/>
                </a:solidFill>
                <a:latin typeface="Calibri"/>
              </a:rPr>
              <a:t>The Pipeline We Built — Seven Scripts</a:t>
            </a:r>
            <a:r>
              <a:rPr lang="en-US" sz="3000" b="1" dirty="0">
                <a:solidFill>
                  <a:srgbClr val="1F3A5F"/>
                </a:solidFill>
                <a:latin typeface="Calibri"/>
              </a:rPr>
              <a:t> </a:t>
            </a:r>
            <a:r>
              <a:rPr sz="3000" b="1" i="0" dirty="0">
                <a:solidFill>
                  <a:srgbClr val="1F3A5F"/>
                </a:solidFill>
                <a:latin typeface="Calibri"/>
              </a:rPr>
              <a:t>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Every step was implemented from</a:t>
            </a:r>
            <a:r>
              <a:rPr lang="en-US" sz="1500" i="1" dirty="0">
                <a:solidFill>
                  <a:srgbClr val="556070"/>
                </a:solidFill>
                <a:latin typeface="Calibri"/>
              </a:rPr>
              <a:t> 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NumPy to make the algorithm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data_inspect.py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044337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81497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81497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1497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eda.py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631474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68634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68634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634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preprocessing.py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18611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355771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55771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Split +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771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train_test_split.py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05748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942908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2908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kNN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2908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knn_model.py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392885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30045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30045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Tune 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0045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knn_tune_k.py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980022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117182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117182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Final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7182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final_evaluation.py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Key engineering choices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Stratified 80 / 20 split — preserves the 84.5 / 15.5 class ratio in both partitions.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Standardization fitted on train ONLY — no test-set information leaks into the scaler.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Vectorized Euclidean distance with NumPy broadcasting — fast even at 9,865 × 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Manual confusion matrix and metrics — no </a:t>
            </a:r>
            <a:r>
              <a:rPr sz="1300" dirty="0" err="1">
                <a:solidFill>
                  <a:srgbClr val="1A1A1A"/>
                </a:solidFill>
                <a:latin typeface="Calibri"/>
              </a:rPr>
              <a:t>sklearn.metrics</a:t>
            </a:r>
            <a:r>
              <a:rPr sz="1300" dirty="0">
                <a:solidFill>
                  <a:srgbClr val="1A1A1A"/>
                </a:solidFill>
                <a:latin typeface="Calibri"/>
              </a:rPr>
              <a:t> shortcut.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06  • 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Sweeping k from 1 to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F1 peaks at k = 3; we chose k = 7 for its higher precision. Recall and precision pull in opposite directions.</a:t>
            </a:r>
            <a:endParaRPr sz="15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Best k by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614832"/>
            <a:ext cx="3566160" cy="153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Accuracy:   k = 21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Precision: k = 24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Recall:     k = 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F1:         k = </a:t>
            </a:r>
            <a:r>
              <a:rPr lang="en-PH" sz="1300" dirty="0">
                <a:solidFill>
                  <a:srgbClr val="1A1A1A"/>
                </a:solidFill>
                <a:latin typeface="Calibri"/>
              </a:rPr>
              <a:t>3</a:t>
            </a:r>
            <a:endParaRPr lang="en-US" sz="1300" dirty="0">
              <a:solidFill>
                <a:srgbClr val="1A1A1A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300" dirty="0">
                <a:solidFill>
                  <a:srgbClr val="1A1A1A"/>
                </a:solidFill>
                <a:latin typeface="Calibri"/>
              </a:rPr>
              <a:t>Chosen:             k = 7 (higher precision)</a:t>
            </a:r>
            <a:endParaRPr sz="130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92440" y="4572000"/>
            <a:ext cx="35661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PH" sz="1600" b="1" i="0" dirty="0">
                <a:solidFill>
                  <a:srgbClr val="DD8452"/>
                </a:solidFill>
                <a:latin typeface="Calibri"/>
              </a:rPr>
              <a:t>How we chose k</a:t>
            </a:r>
            <a:endParaRPr sz="1600" b="1" i="0" dirty="0">
              <a:solidFill>
                <a:srgbClr val="DD8452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92440" y="5029200"/>
            <a:ext cx="3566160" cy="1006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dirty="0">
                <a:solidFill>
                  <a:srgbClr val="1A1A1A"/>
                </a:solidFill>
                <a:latin typeface="Calibri"/>
              </a:rPr>
              <a:t>•  </a:t>
            </a:r>
            <a:r>
              <a:rPr lang="en-US" sz="1200" dirty="0">
                <a:solidFill>
                  <a:srgbClr val="1A1A1A"/>
                </a:solidFill>
                <a:latin typeface="Calibri"/>
              </a:rPr>
              <a:t>F1 to find the peak region (k ≈ 3–9), avoiding both extremes.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dirty="0">
                <a:solidFill>
                  <a:srgbClr val="1A1A1A"/>
                </a:solidFill>
                <a:latin typeface="Calibri"/>
              </a:rPr>
              <a:t>•  </a:t>
            </a:r>
            <a:r>
              <a:rPr lang="en-US" sz="1200" dirty="0">
                <a:solidFill>
                  <a:srgbClr val="1A1A1A"/>
                </a:solidFill>
                <a:latin typeface="Calibri"/>
              </a:rPr>
              <a:t>Precision to pick within it → k = 7 — a confident, conservative classifier.</a:t>
            </a:r>
            <a:endParaRPr sz="120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1B267E2-0090-66C2-4F43-9A070DDC2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4729"/>
            <a:ext cx="7315200" cy="39485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Final Test-Set Performance  (k =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Held-out 20% test set, 2,465 sessions, never seen during tuning preparation.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87.67%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4C72B0"/>
                </a:solidFill>
                <a:latin typeface="Calibri"/>
              </a:rPr>
              <a:t>0.6974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0.3570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Recall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0.4722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F1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48640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How to read these 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Precision 0.70 → when we say "buyer", we’re right 70%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Recall 0.36 → we catch only 36% of the actual buyers.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High precision, lower recall — a conservative classifier.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486400" cy="260604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Confusion matrix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TP = 136     (correctly flagged buyers)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FP =  59     (predicted buy, didn’t)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FN = 245     (missed buyers — recall pain)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TN = 2,025   (correctly excluded non-buyers)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 —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Confusion Matrix — Counts and Row Percentages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Where the model is right, and where it pays the cost of class imbalance.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65760" y="1920240"/>
            <a:ext cx="8229599" cy="4251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69680" y="1920240"/>
            <a:ext cx="29260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20574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In Plain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6060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non-buyers are correctly identified (97.2%).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buyers slip through (we catch only 35.7%).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When we do flag a buyer, we’re usually 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08  • 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000" b="1" i="0" dirty="0">
                <a:solidFill>
                  <a:srgbClr val="1F3A5F"/>
                </a:solidFill>
                <a:latin typeface="Calibri"/>
              </a:rPr>
              <a:t>Validation: Stable Across Folds — but a Simple Rule Beats Us</a:t>
            </a:r>
            <a:endParaRPr sz="30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5-fold stratified CV confirms stability; but a one-feature </a:t>
            </a:r>
            <a:r>
              <a:rPr lang="en-US" sz="1500" b="0" i="1" dirty="0" err="1">
                <a:solidFill>
                  <a:srgbClr val="556070"/>
                </a:solidFill>
                <a:latin typeface="Calibri"/>
              </a:rPr>
              <a:t>PageValues</a:t>
            </a:r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 rule outperforms our </a:t>
            </a:r>
            <a:r>
              <a:rPr lang="en-US" sz="15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.</a:t>
            </a:r>
            <a:endParaRPr sz="15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5-fold Stratified Cross-Validation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Stratified folds preserve the 84.5 / 15.5 class ratio in every fold.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Each fold gets its own train-only standardization (no leakage).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Per-fold metrics are tightly clustered.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Conclusion: the test-set numbers are not a lucky split.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Baseline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70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697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69748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Always "No-Purchase"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546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0.8454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1546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6118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Rule on PageValues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79120"/>
            <a:ext cx="146304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PH" sz="1200" b="0" i="0" dirty="0">
                <a:solidFill>
                  <a:srgbClr val="1A1A1A"/>
                </a:solidFill>
                <a:latin typeface="Calibri"/>
              </a:rPr>
              <a:t>0.8929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332720" y="3679120"/>
            <a:ext cx="128016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PH" sz="1200" b="0" i="0" dirty="0">
                <a:solidFill>
                  <a:srgbClr val="1A1A1A"/>
                </a:solidFill>
                <a:latin typeface="Calibri"/>
              </a:rPr>
              <a:t>0.6819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5212080" cy="411480"/>
          </a:xfrm>
          <a:prstGeom prst="rect">
            <a:avLst/>
          </a:prstGeom>
          <a:solidFill>
            <a:srgbClr val="DD8452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kNN (k = 7) — our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0690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0.8767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0690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0.4722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5212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The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PageValues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rule beats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on F1 —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dilutes the dominant signal across 28 features. A humbling, instructive result.</a:t>
            </a:r>
            <a:endParaRPr sz="12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09  •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the Numbers Mean for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high-precision, lower-recall classifier — useful for some interventions, weak for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Good Fit If…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Acting on a non-buyer is expensive (e.g., heavy discount, live agent).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want fewer-but-confident alerts, not blanket coverage.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can pair this model with low-cost site-wide nudges that catch the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29768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Bad Fit If…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Missed buyers are far more costly than wasted offers.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The product needs blanket personalization (recall matters more than precision).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You need calibrated probabilities, not hard predictions.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10  • 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Honest Limitations of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A capstone is judged by candor as much as by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2996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Imbalance not treated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6596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  <a:latin typeface="Calibri"/>
              </a:rPr>
              <a:t>No SMOTE, no class weighting, no threshold tuning, no distance-weighted voting. The recall ceiling is largely a consequence of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67919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Multicollinearity left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9192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 / ExitRates (r = 0.913) and ProductRelated / *_Duration (r = 0.861) double-count behavior in distance.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56432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One-hot inflates the distance 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392424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  <a:latin typeface="Calibri"/>
              </a:rPr>
              <a:t>13 binary one-hot columns sit alongside 14 continuous ones in the same Euclidean geometry — distorts neighbor selection slightly.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148697"/>
            <a:ext cx="310896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A one-feature </a:t>
            </a:r>
            <a:r>
              <a:rPr lang="en-US" sz="1500" b="1" i="0" dirty="0" err="1">
                <a:solidFill>
                  <a:srgbClr val="1F3A5F"/>
                </a:solidFill>
                <a:latin typeface="Calibri"/>
              </a:rPr>
              <a:t>PageValues</a:t>
            </a:r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 rule beats the full model </a:t>
            </a:r>
            <a:endParaRPr sz="15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31920" y="4287196"/>
            <a:ext cx="777240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2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lang="en-US" sz="1200" b="0" i="0" dirty="0">
                <a:solidFill>
                  <a:srgbClr val="1A1A1A"/>
                </a:solidFill>
                <a:latin typeface="Calibri"/>
              </a:rPr>
              <a:t> doesn't do feature selection.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4882896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818888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Only Euclidean + uniform vote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818888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Manhattan / Mahalanobis / weighted-vote experiments. Distance-weighted voting in particular is known to help on imbalanced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9612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No ROC / probability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53212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Reported only point classification metrics. ROC + AUC would visualize the full precision-recall trade-off.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11  • 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We Would Try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Concrete improvements that follow directly from the limitations on the previous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6596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Distance-weighted voting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596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Closer neighbors count more. Cheap to add; usually the single biggest win on imbalanced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770632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7063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79192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Threshold tuning on the kNN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2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Use k_pos / k as a soft probability and pick the threshold by Youden’s J or by business cost.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483864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4838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2424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Resampling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92424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SMOTE oversampling of the minority class (or principled under-sampling of the majority).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197096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970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05656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Feature redundancy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Drop ExitRates (keep BounceRates) and ProductRelated_Duration (keep ProductRelated), or run PCA.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910328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910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18888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Cleaner tuning 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18888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Hold out a true validation split or use nested CV so the test set is touched exactly once.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2356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3212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Compare against tuned baselines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53212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Logistic regression, random forest, gradient boosting — to position kNN against the literature on this dataset.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12  • 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13903"/>
            <a:ext cx="102412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A </a:t>
            </a:r>
            <a:r>
              <a:rPr sz="16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 classifier</a:t>
            </a:r>
            <a:r>
              <a:rPr lang="en-US" sz="16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can learn real, transferable signal from web-session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71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On the UCI Online Shoppers data, k = 7 gave 87.67% accuracy and 0.47 F1 on a held-out test set.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Class imbalance is the single most important factor shaping these numbers.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262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High precision (0.70), low recall (0.36) — choose the algorithm that matches your cost structure.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035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The biggest improvements aren’t in tuning more k values. They are in handling imbalance, removing redundant features, and using a clean validation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 dirty="0">
                <a:solidFill>
                  <a:srgbClr val="FFFFFF"/>
                </a:solidFill>
                <a:latin typeface="Calibri"/>
              </a:rPr>
              <a:t>Predicting Online Shoppers’ Purchase Intention  •  </a:t>
            </a:r>
            <a:r>
              <a:rPr sz="1800" b="0" i="0" dirty="0" err="1">
                <a:solidFill>
                  <a:srgbClr val="FFFFFF"/>
                </a:solidFill>
                <a:latin typeface="Calibri"/>
              </a:rPr>
              <a:t>kNN</a:t>
            </a:r>
            <a:endParaRPr sz="1800" b="0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2203</Words>
  <Application>Microsoft Office PowerPoint</Application>
  <PresentationFormat>Widescreen</PresentationFormat>
  <Paragraphs>337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Rodnee</cp:lastModifiedBy>
  <cp:revision>27</cp:revision>
  <dcterms:created xsi:type="dcterms:W3CDTF">2013-01-27T09:14:16Z</dcterms:created>
  <dcterms:modified xsi:type="dcterms:W3CDTF">2026-05-21T22:30:03Z</dcterms:modified>
  <cp:category/>
</cp:coreProperties>
</file>