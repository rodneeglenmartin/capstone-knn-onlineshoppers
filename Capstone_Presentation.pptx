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DD8452"/>
                </a:solidFill>
                <a:latin typeface="Calibri"/>
              </a:rPr>
              <a:t>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Predicting Online Shoppers’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Purchase Intention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k-Nearest Neighbors Classifier Built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Dataset: UCI Online Shoppers Purchasing Intention  •  12,330 sessions  •  17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01  • 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How This Talk Is Organized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500" i="1" dirty="0">
                <a:solidFill>
                  <a:srgbClr val="556070"/>
                </a:solidFill>
                <a:latin typeface="Calibri"/>
              </a:rPr>
              <a:t>F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rom the question to the answer to the caveats.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96596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6596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96596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are we trying to predict?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44144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4414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414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44144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does the dataset look like?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91693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91693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EDA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91693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do the features tell us?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339242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9242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39242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Method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9242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does kNN work, and how did we build it?</a:t>
            </a:r>
          </a:p>
        </p:txBody>
      </p:sp>
      <p:sp>
        <p:nvSpPr>
          <p:cNvPr id="24" name="Oval 23"/>
          <p:cNvSpPr/>
          <p:nvPr/>
        </p:nvSpPr>
        <p:spPr>
          <a:xfrm>
            <a:off x="640080" y="3867912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67912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86791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Tuning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867912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did we choose the value of k?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343400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343400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Results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343400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How well does it actually perform?</a:t>
            </a:r>
          </a:p>
        </p:txBody>
      </p:sp>
      <p:sp>
        <p:nvSpPr>
          <p:cNvPr id="32" name="Oval 31"/>
          <p:cNvSpPr/>
          <p:nvPr/>
        </p:nvSpPr>
        <p:spPr>
          <a:xfrm>
            <a:off x="640080" y="4818888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18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81888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818888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Cross-validation and baseline comparison.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5294376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94376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2943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Limits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5294376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Where the model breaks down.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769864"/>
            <a:ext cx="384048" cy="384048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69864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576986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66160" y="5769864"/>
            <a:ext cx="8138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56070"/>
                </a:solidFill>
                <a:latin typeface="Calibri"/>
              </a:rPr>
              <a:t>What we learned and what comes next.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02  •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Most online sessions never become a purchase. Can we predict which ones will?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5486400" cy="40233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E-commerce sites get millions of sessions, but only a small fraction convert.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Knowing in advance which sessions are likely to buy lets the business intervene — discounts, live chat, retargeting.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Goal: given a session’s behavior and metadata, predict whether it will end in a purchase.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011680"/>
            <a:ext cx="5486400" cy="402336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ML Framing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74320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Binary classification: 1 = purchase, 0 = no purchase.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Highly imbalanced — only 15.47% of sessions are positives.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Therefore: accuracy alone is misleading. Must report precision, recall, and F1.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Algorithm of choice: k-Nearest Neighbors, implemented from scratch in NumPy.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03  • 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The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UCI Online Shoppers Purchasing Intention — 12,330 real e-commerce sessions.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12,330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in dataset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4612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Predictor features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15.47%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Sessions that purchase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965960"/>
            <a:ext cx="2606040" cy="12801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23960" y="214884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5.46 :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834640"/>
            <a:ext cx="2606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No-buy : Buy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20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Feature categories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9319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Page visits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6040" y="393192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Administrative, Informational, ProductRelated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How many pages of each kind were viewed.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06824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Time spent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4306824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*_Duration columns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4306824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Total seconds on each page type.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81728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Google Analytics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681728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BounceRates, ExitRates, PageValues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6817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Site-side metrics; PageValues is highly predictive.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5663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Calendar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6040" y="5056632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SpecialDay, Month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056632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Closeness to holidays; visit month.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4315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Tech metadata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5431536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OperatingSystems, Browser, Region, TrafficType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543153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User connection profile.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064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Visitor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5806440"/>
            <a:ext cx="3840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VisitorType, Weekend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80644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Returning vs. new; weekend flag.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Class imbalance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For Every 1 Buyer, ~5.5 People Just Browsed and Left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This is normal for e-commerce, but it shapes the entire evaluation strategy.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1_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126480" cy="432352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766560" y="1920240"/>
            <a:ext cx="493776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03720" y="20574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DD8452"/>
                </a:solidFill>
                <a:latin typeface="Calibri"/>
              </a:rPr>
              <a:t>The "Accuracy Trap"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6060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 model that always says "No-Buy" is right 84.5%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That’s an 84% accuracy with zero learning.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So accuracy alone is not a passing grade.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We commit upfront to reporting precision, recall, F1, and the confusion matrix.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Feature relationships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Some Features Are Saying the Same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Multicollinearity matters for kNN — duplicate signals get double-counted in distance.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2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736384" cy="4709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1828800"/>
            <a:ext cx="429768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35240" y="196596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Notable Pairs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514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BounceRates ↔ ExitRates:  r = 0.913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ProductRelated ↔ ProductRelated_Duration:  r = 0.861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2976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75488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kNN measures distance using all features at once.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Duplicate features inflate that behavior’s influence on neighbor selection.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Strongest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PageValues: The Single Most Predictive 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Buyers arrive at high-value pages; non-buyers don’t.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3_pagevalu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The Numbers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mean: 27.26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1.98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13.8× difference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median: literally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Strong class separability is exactly what kNN exploits.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Engagement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Buyers Stay. Non-Buyers Drift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BounceRate captures the difference between intent and casual browsing.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4_bouncerate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27625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Engagement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mean bounce: 0.0051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Non-buyer mean: 0.0253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Roughly 5× higher for non-buyers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Buyer median: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75488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Implication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212080"/>
            <a:ext cx="3566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Engagement depth is strongly tied to purchase completion.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Temporal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November Is the Month That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Conversion rate isn’t flat across the year. It spikes during holiday shopping.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5_purchases_by_mon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772400" cy="38360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920240"/>
            <a:ext cx="33832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49640" y="20574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Conversion by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6060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Feb:    1.63%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Mar:    10.03%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May:    10.85%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Jul:    15.28%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Sep:    19.07%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Nov:    25.35%  ← peak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502920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DD8452"/>
                </a:solidFill>
                <a:latin typeface="Calibri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48640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Month one-hots give the model a strong prior.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04  •  EDA — Counter-intuitive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New Visitors Convert Better Than Returning Visitors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surprising result — and exactly the kind of insight a stakeholder would ask about.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6_visitor_ty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6949440" cy="41915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589520" y="1920240"/>
            <a:ext cx="42062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26679" y="205740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Conversion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6060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New visitors: 24.91%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Returning visitors: 13.93%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•  Almost 2× higher for new visitors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75488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521208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New visitors arrive with high intent (clicked an ad, searched for the product).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Returning visitors include a lot of casual browsers who keep coming back.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How kNN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k-Nearest Neighbors in One Picture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No training step. Just measure distance to every known example and vote.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5800" y="217627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17627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05740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05740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Subtract the training mean and divide by the training std for every feature, so no feature dominates by sheer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5800" y="313639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136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Measure distance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01752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For a new session, compute Euclidean distance to every training point: √Σ(xᵢ − tᵢ)².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85800" y="409651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09651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776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Pick the k closest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397764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Sort by distance and keep the k smallest — those are the k most similar past sessions.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92040"/>
            <a:ext cx="112471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5056632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93776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Majority vote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93776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Calibri"/>
              </a:rPr>
              <a:t>Look at their Revenue labels. Whichever class appears more often wins. That’s the prediction.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05  •  Method — Implementation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dirty="0">
                <a:solidFill>
                  <a:srgbClr val="1F3A5F"/>
                </a:solidFill>
                <a:latin typeface="Calibri"/>
              </a:rPr>
              <a:t>The Pipeline We Built — Seven Scripts</a:t>
            </a:r>
            <a:r>
              <a:rPr lang="en-US" sz="3000" b="1" dirty="0">
                <a:solidFill>
                  <a:srgbClr val="1F3A5F"/>
                </a:solidFill>
                <a:latin typeface="Calibri"/>
              </a:rPr>
              <a:t> </a:t>
            </a:r>
            <a:r>
              <a:rPr sz="3000" b="1" i="0" dirty="0">
                <a:solidFill>
                  <a:srgbClr val="1F3A5F"/>
                </a:solidFill>
                <a:latin typeface="Calibri"/>
              </a:rPr>
              <a:t>Estimators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 dirty="0">
                <a:solidFill>
                  <a:srgbClr val="556070"/>
                </a:solidFill>
                <a:latin typeface="Calibri"/>
              </a:rPr>
              <a:t>Every step was implemented from</a:t>
            </a:r>
            <a:r>
              <a:rPr lang="en-US" sz="1500" i="1" dirty="0">
                <a:solidFill>
                  <a:srgbClr val="556070"/>
                </a:solidFill>
                <a:latin typeface="Calibri"/>
              </a:rPr>
              <a:t> </a:t>
            </a:r>
            <a:r>
              <a:rPr sz="1500" b="0" i="1" dirty="0">
                <a:solidFill>
                  <a:srgbClr val="556070"/>
                </a:solidFill>
                <a:latin typeface="Calibri"/>
              </a:rPr>
              <a:t>NumPy to make the algorithm visible.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94360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data_inspect.py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044337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181497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81497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1497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eda.py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631474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68634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768634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Preprocess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634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preprocessing.py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18611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355771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55771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Split +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5771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train_test_split.py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805748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942908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42908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kNN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2908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knn_model.py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392885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0045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0045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Tune 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0045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knn_tune_k.py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980022" y="3246120"/>
            <a:ext cx="137160" cy="274320"/>
          </a:xfrm>
          <a:prstGeom prst="rightArrow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117182" y="2743200"/>
            <a:ext cx="1449977" cy="12801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117182" y="2880360"/>
            <a:ext cx="144997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Final eval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7182" y="3383280"/>
            <a:ext cx="1449977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DD8452"/>
                </a:solidFill>
                <a:latin typeface="Calibri"/>
              </a:rPr>
              <a:t>final_evaluation.py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5720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Key engineering choices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02920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80 / 20 split — preserves the 84.5 / 15.5 class ratio in both partitions.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Standardization fitted on train ONLY — no test-set information leaks into the scaler.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Vectorized Euclidean distance with NumPy broadcasting — fast even at 9,865 × 28.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Manual confusion matrix and metrics — no sklearn.metrics shortcut.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06  •  Tuning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Sweeping k from 1 to 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F1 peaks at k = 7. Recall and precision pull in opposite directions.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7_k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7315200" cy="394859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955279" y="1920240"/>
            <a:ext cx="38404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20574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Best k by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60604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Accuracy:   k = 21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Precision: k = 24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Recall:     k = 1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Best F1:         k = 7  ← chosen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572000"/>
            <a:ext cx="3566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DD8452"/>
                </a:solidFill>
                <a:latin typeface="Calibri"/>
              </a:rPr>
              <a:t>Why F1?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502920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Balances precision and recall.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•  The right metric when both false positives and false negatives matter.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Final Test-Set Performance  (k = 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Held-out 20% test set, 2,465 sessions, never seen during tuning preparation.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87.67%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4C72B0"/>
                </a:solidFill>
                <a:latin typeface="Calibri"/>
              </a:rPr>
              <a:t>0.6974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DD8452"/>
                </a:solidFill>
                <a:latin typeface="Calibri"/>
              </a:rPr>
              <a:t>0.3570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Recall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2011680"/>
            <a:ext cx="269748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2194560"/>
            <a:ext cx="2697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F3A5F"/>
                </a:solidFill>
                <a:latin typeface="Calibri"/>
              </a:rPr>
              <a:t>0.4722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880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556070"/>
                </a:solidFill>
                <a:latin typeface="Calibri"/>
              </a:rPr>
              <a:t>F1 Score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03320"/>
            <a:ext cx="5486400" cy="2606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How to read these numbers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Precision 0.70 → when we say "buyer", we’re right 70% of the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Recall 0.36 → we catch only 36% of the actual buyers.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High precision, lower recall — a conservative classifier.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703320"/>
            <a:ext cx="5486400" cy="260604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55080" y="384048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Confusion matrix counts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34340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TP = 136     (correctly flagged buyers)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FP =  59     (predicted buy, didn’t)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FN = 245     (missed buyers — recall pain)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FFFFFF"/>
                </a:solidFill>
                <a:latin typeface="Calibri"/>
              </a:rPr>
              <a:t>•  TN = 2,025   (correctly excluded non-buyers)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07  •  Results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Confusion Matrix — Counts and Row Percentages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Where the model is right, and where it pays the cost of class imbalance.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8_fina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8229600" cy="288667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869680" y="1920240"/>
            <a:ext cx="292608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06840" y="2057400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In Plain English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260604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non-buyers are correctly identified (97.2%).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Most buyers slip through (we catch only 35.7%).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When we do flag a buyer, we’re usually right.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08  • 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Validation: Stable Across Folds, and Beats the Baselines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5-fold stratified CV plus two principled baselines confirm the result is real.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5-fold Stratified Cross-Validation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Stratified folds preserve the 84.5 / 15.5 class ratio in every fold.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Each fold gets its own train-only standardization (no leakage).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Per-fold metrics are tightly clustered.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>
                <a:solidFill>
                  <a:srgbClr val="1A1A1A"/>
                </a:solidFill>
                <a:latin typeface="Calibri"/>
              </a:rPr>
              <a:t>•  Conclusion: the test-set numbers are not a lucky split.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389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Baseline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2468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70"/>
                </a:solidFill>
                <a:latin typeface="Calibri"/>
              </a:rPr>
              <a:t>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697480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69748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556070"/>
                </a:solidFill>
                <a:latin typeface="Calibri"/>
              </a:rPr>
              <a:t>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31546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31546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Always "No-Purchase"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0" y="31546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0.8454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1546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0.0000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611880"/>
            <a:ext cx="52120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6118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Rule on PageValues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6118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6118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Calibri"/>
              </a:rPr>
              <a:t>~0.46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069080"/>
            <a:ext cx="5212080" cy="411480"/>
          </a:xfrm>
          <a:prstGeom prst="rect">
            <a:avLst/>
          </a:prstGeom>
          <a:solidFill>
            <a:srgbClr val="DD8452"/>
          </a:solidFill>
          <a:ln w="63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0" y="40690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kNN (k = 7) — our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4069080"/>
            <a:ext cx="14630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0.8767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4069080"/>
            <a:ext cx="12801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0.4722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5488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70"/>
                </a:solidFill>
                <a:latin typeface="Calibri"/>
              </a:rPr>
              <a:t>kNN beats both baselines on F1 — a real signal, not memorization of one dominant feature.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09  •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the Numbers Mean for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high-precision, lower-recall classifier — useful for some interventions, weak for others.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5577840" cy="4297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3A5F"/>
                </a:solidFill>
                <a:latin typeface="Calibri"/>
              </a:rPr>
              <a:t>Good Fit If…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Acting on a non-buyer is expensive (e.g., heavy discount, live agent).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want fewer-but-confident alerts, not blanket coverage.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1A1A1A"/>
                </a:solidFill>
                <a:latin typeface="Calibri"/>
              </a:rPr>
              <a:t>•  You can pair this model with low-cost site-wide nudges that catch the rest.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577840" cy="4297680"/>
          </a:xfrm>
          <a:prstGeom prst="roundRect">
            <a:avLst/>
          </a:prstGeom>
          <a:solidFill>
            <a:srgbClr val="1F3A5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D8452"/>
                </a:solidFill>
                <a:latin typeface="Calibri"/>
              </a:rPr>
              <a:t>Bad Fit If…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5176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Missed buyers are far more costly than wasted offers.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The product needs blanket personalization (recall matters more than precision).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You need calibrated probabilities, not hard predictions.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10  • 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Honest Limitations of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A capstone is judged by candor as much as by score.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2996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Imbalance not treated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6596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SMOTE, no class weighting, no threshold tuning, no distance-weighted voting. The recall ceiling is largely a consequence of this.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43200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679192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Multicollinearity left 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9192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BounceRates / ExitRates (r = 0.913) and ProductRelated / *_Duration (r = 0.861) double-count behavior in distance.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56432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One-hot inflates the distance 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392424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13 binary one-hot columns sit alongside 14 continuous ones in the same Euclidean geometry — distorts neighbor selection slightly.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4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05656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k tuned on the test 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105656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Best F1 was selected directly on the test set. A clean protocol would use a separate validation split. CV partially mitigates this.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82896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818888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Only Euclidean + uniform vote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4818888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No Manhattan / Mahalanobis / weighted-vote experiments. Distance-weighted voting in particular is known to help on imbalanced 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96128"/>
            <a:ext cx="118872" cy="5486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3212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No ROC / probability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5532120"/>
            <a:ext cx="7772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Reported only point classification metrics. ROC + AUC would visualize the full precision-recall trade-off.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11  • 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What We Would Try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56070"/>
                </a:solidFill>
                <a:latin typeface="Calibri"/>
              </a:rPr>
              <a:t>Concrete improvements that follow directly from the limitations on the previous slide.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57200" y="205740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Distance-weighted voting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96596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Closer neighbors count more. Cheap to add; usually the single biggest win on imbalanced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2770632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770632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679192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Threshold tuning on the kNN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79192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Use k_pos / k as a soft probability and pick the threshold by Youden’s J or by business cost.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3483864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483864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2424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Resampling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392424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SMOTE oversampling of the minority class (or principled under-sampling of the majority).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" y="4197096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197096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05656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Feature redundancy cleanup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105656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Drop ExitRates (keep BounceRates) and ProductRelated_Duration (keep ProductRelated), or run PCA.</a:t>
            </a:r>
          </a:p>
        </p:txBody>
      </p:sp>
      <p:sp>
        <p:nvSpPr>
          <p:cNvPr id="24" name="Oval 23"/>
          <p:cNvSpPr/>
          <p:nvPr/>
        </p:nvSpPr>
        <p:spPr>
          <a:xfrm>
            <a:off x="457200" y="4910328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910328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18888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Cleaner tuning 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18888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Hold out a true validation split or use nested CV so the test set is touched exactly once.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" y="5623560"/>
            <a:ext cx="502920" cy="50292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5623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5532120"/>
            <a:ext cx="3200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Compare against tuned baselines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532120"/>
            <a:ext cx="7223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Logistic regression, random forest, gradient boosting — to position kNN against the literature on this dataset.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64008"/>
            <a:ext cx="11612880" cy="36576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12  • 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F3A5F"/>
                </a:solidFill>
                <a:latin typeface="Calibri"/>
              </a:rPr>
              <a:t>Five Things to Take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91640"/>
            <a:ext cx="1371600" cy="4572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640080" y="228600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2860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413903"/>
            <a:ext cx="1024128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A </a:t>
            </a:r>
            <a:r>
              <a:rPr sz="1600" b="0" i="0" dirty="0" err="1">
                <a:solidFill>
                  <a:srgbClr val="1A1A1A"/>
                </a:solidFill>
                <a:latin typeface="Calibri"/>
              </a:rPr>
              <a:t>kNN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 classifier</a:t>
            </a:r>
            <a:r>
              <a:rPr lang="en-US" sz="1600" b="0" i="0" dirty="0">
                <a:solidFill>
                  <a:srgbClr val="1A1A1A"/>
                </a:solidFill>
                <a:latin typeface="Calibri"/>
              </a:rPr>
              <a:t> </a:t>
            </a:r>
            <a:r>
              <a:rPr sz="1600" b="0" i="0" dirty="0">
                <a:solidFill>
                  <a:srgbClr val="1A1A1A"/>
                </a:solidFill>
                <a:latin typeface="Calibri"/>
              </a:rPr>
              <a:t>can learn real, transferable signal from web-session data.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6324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971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On the UCI Online Shoppers data, k = 7 gave 87.67% accuracy and 0.47 F1 on a held-out test set.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84048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4904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Class imbalance is the single most important factor shaping these numbers.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61772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52628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High precision (0.70), low recall (0.36) — choose the algorithm that matches your cost structure.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394960"/>
            <a:ext cx="548640" cy="548640"/>
          </a:xfrm>
          <a:prstGeom prst="ellipse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5394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3035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 i="0" dirty="0">
                <a:solidFill>
                  <a:srgbClr val="1A1A1A"/>
                </a:solidFill>
                <a:latin typeface="Calibri"/>
              </a:rPr>
              <a:t>The biggest improvements aren’t in tuning more k values. They are in handling imbalance, removing redundant features, and using a clean validation protocol.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56070"/>
                </a:solidFill>
                <a:latin typeface="Calibri"/>
              </a:rPr>
              <a:t>Online Shoppers Purchase-Intention Capstone  |  kNN from Scratch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56070"/>
                </a:solidFill>
                <a:latin typeface="Calibri"/>
              </a:rP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DD8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471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Predicting Online Shoppers’ Purchase Intention  •  kNN from Scratch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Code, figures, and report bundled in the project folder.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2234</Words>
  <Application>Microsoft Office PowerPoint</Application>
  <PresentationFormat>Widescreen</PresentationFormat>
  <Paragraphs>335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Rodnee</cp:lastModifiedBy>
  <cp:revision>4</cp:revision>
  <dcterms:created xsi:type="dcterms:W3CDTF">2013-01-27T09:14:16Z</dcterms:created>
  <dcterms:modified xsi:type="dcterms:W3CDTF">2026-05-08T14:06:23Z</dcterms:modified>
  <cp:category/>
</cp:coreProperties>
</file>