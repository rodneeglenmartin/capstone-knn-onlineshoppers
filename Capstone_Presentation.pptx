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7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6" d="100"/>
          <a:sy n="106" d="100"/>
        </p:scale>
        <p:origin x="756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1463040"/>
          </a:xfrm>
          <a:prstGeom prst="rect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 i="0">
                <a:solidFill>
                  <a:srgbClr val="DD8452"/>
                </a:solidFill>
                <a:latin typeface="Calibri"/>
              </a:rPr>
              <a:t>CAPSTONE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112471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200" b="1" i="0">
                <a:solidFill>
                  <a:srgbClr val="FFFFFF"/>
                </a:solidFill>
                <a:latin typeface="Calibri"/>
              </a:rPr>
              <a:t>Predicting Online Shoppers’</a:t>
            </a:r>
          </a:p>
          <a:p>
            <a:pPr algn="ctr"/>
            <a:r>
              <a:rPr sz="4200" b="1" i="0">
                <a:solidFill>
                  <a:srgbClr val="FFFFFF"/>
                </a:solidFill>
                <a:latin typeface="Calibri"/>
              </a:rPr>
              <a:t>Purchase Intention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243887"/>
            <a:ext cx="1124712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Calibri"/>
              </a:rPr>
              <a:t>A k-Nearest Neighbors Classifier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84632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  <a:latin typeface="Calibri"/>
              </a:rPr>
              <a:t>Dataset: UCI Online Shoppers Purchasing Intention  •  12,330 sessions  •  17 features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03504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 i="1">
                <a:solidFill>
                  <a:srgbClr val="FFFFFF"/>
                </a:solidFill>
                <a:latin typeface="Calibri"/>
              </a:rPr>
              <a:t>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64008"/>
            <a:ext cx="11612880" cy="36576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01  • 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F3A5F"/>
                </a:solidFill>
                <a:latin typeface="Calibri"/>
              </a:rPr>
              <a:t>How This Talk Is Organized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11247120" cy="3231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US" sz="1500" i="1" dirty="0">
                <a:solidFill>
                  <a:srgbClr val="556070"/>
                </a:solidFill>
                <a:latin typeface="Calibri"/>
              </a:rPr>
              <a:t>F</a:t>
            </a:r>
            <a:r>
              <a:rPr sz="1500" b="0" i="1" dirty="0">
                <a:solidFill>
                  <a:srgbClr val="556070"/>
                </a:solidFill>
                <a:latin typeface="Calibri"/>
              </a:rPr>
              <a:t>rom the question to the answer to the caveats.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691640"/>
            <a:ext cx="1371600" cy="45720"/>
          </a:xfrm>
          <a:prstGeom prst="rect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640080" y="1965960"/>
            <a:ext cx="384048" cy="384048"/>
          </a:xfrm>
          <a:prstGeom prst="ellipse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" y="1965960"/>
            <a:ext cx="384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1965960"/>
            <a:ext cx="21945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 i="0">
                <a:solidFill>
                  <a:srgbClr val="1F3A5F"/>
                </a:solidFill>
                <a:latin typeface="Calibri"/>
              </a:rPr>
              <a:t>Problem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6160" y="1965960"/>
            <a:ext cx="81381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 i="0">
                <a:solidFill>
                  <a:srgbClr val="556070"/>
                </a:solidFill>
                <a:latin typeface="Calibri"/>
              </a:rPr>
              <a:t>What are we trying to predict?</a:t>
            </a:r>
          </a:p>
        </p:txBody>
      </p:sp>
      <p:sp>
        <p:nvSpPr>
          <p:cNvPr id="12" name="Oval 11"/>
          <p:cNvSpPr/>
          <p:nvPr/>
        </p:nvSpPr>
        <p:spPr>
          <a:xfrm>
            <a:off x="640080" y="2441448"/>
            <a:ext cx="384048" cy="384048"/>
          </a:xfrm>
          <a:prstGeom prst="ellipse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0080" y="2441448"/>
            <a:ext cx="384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2441448"/>
            <a:ext cx="21945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 i="0">
                <a:solidFill>
                  <a:srgbClr val="1F3A5F"/>
                </a:solidFill>
                <a:latin typeface="Calibri"/>
              </a:rPr>
              <a:t>Data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0" y="2441448"/>
            <a:ext cx="81381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 i="0">
                <a:solidFill>
                  <a:srgbClr val="556070"/>
                </a:solidFill>
                <a:latin typeface="Calibri"/>
              </a:rPr>
              <a:t>What does the dataset look like?</a:t>
            </a:r>
          </a:p>
        </p:txBody>
      </p:sp>
      <p:sp>
        <p:nvSpPr>
          <p:cNvPr id="16" name="Oval 15"/>
          <p:cNvSpPr/>
          <p:nvPr/>
        </p:nvSpPr>
        <p:spPr>
          <a:xfrm>
            <a:off x="640080" y="2916936"/>
            <a:ext cx="384048" cy="384048"/>
          </a:xfrm>
          <a:prstGeom prst="ellipse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0080" y="2916936"/>
            <a:ext cx="384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2916936"/>
            <a:ext cx="21945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 i="0">
                <a:solidFill>
                  <a:srgbClr val="1F3A5F"/>
                </a:solidFill>
                <a:latin typeface="Calibri"/>
              </a:rPr>
              <a:t>EDA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6160" y="2916936"/>
            <a:ext cx="81381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 i="0">
                <a:solidFill>
                  <a:srgbClr val="556070"/>
                </a:solidFill>
                <a:latin typeface="Calibri"/>
              </a:rPr>
              <a:t>What do the features tell us?</a:t>
            </a:r>
          </a:p>
        </p:txBody>
      </p:sp>
      <p:sp>
        <p:nvSpPr>
          <p:cNvPr id="20" name="Oval 19"/>
          <p:cNvSpPr/>
          <p:nvPr/>
        </p:nvSpPr>
        <p:spPr>
          <a:xfrm>
            <a:off x="640080" y="3392424"/>
            <a:ext cx="384048" cy="384048"/>
          </a:xfrm>
          <a:prstGeom prst="ellipse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40080" y="3392424"/>
            <a:ext cx="384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80160" y="3392424"/>
            <a:ext cx="21945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 i="0">
                <a:solidFill>
                  <a:srgbClr val="1F3A5F"/>
                </a:solidFill>
                <a:latin typeface="Calibri"/>
              </a:rPr>
              <a:t>Method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66160" y="3392424"/>
            <a:ext cx="81381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 i="0">
                <a:solidFill>
                  <a:srgbClr val="556070"/>
                </a:solidFill>
                <a:latin typeface="Calibri"/>
              </a:rPr>
              <a:t>How does kNN work, and how did we build it?</a:t>
            </a:r>
          </a:p>
        </p:txBody>
      </p:sp>
      <p:sp>
        <p:nvSpPr>
          <p:cNvPr id="24" name="Oval 23"/>
          <p:cNvSpPr/>
          <p:nvPr/>
        </p:nvSpPr>
        <p:spPr>
          <a:xfrm>
            <a:off x="640080" y="3867912"/>
            <a:ext cx="384048" cy="384048"/>
          </a:xfrm>
          <a:prstGeom prst="ellipse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40080" y="3867912"/>
            <a:ext cx="384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80160" y="3867912"/>
            <a:ext cx="21945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 i="0">
                <a:solidFill>
                  <a:srgbClr val="1F3A5F"/>
                </a:solidFill>
                <a:latin typeface="Calibri"/>
              </a:rPr>
              <a:t>Tuning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66160" y="3867912"/>
            <a:ext cx="81381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 i="0">
                <a:solidFill>
                  <a:srgbClr val="556070"/>
                </a:solidFill>
                <a:latin typeface="Calibri"/>
              </a:rPr>
              <a:t>How did we choose the value of k?</a:t>
            </a:r>
          </a:p>
        </p:txBody>
      </p:sp>
      <p:sp>
        <p:nvSpPr>
          <p:cNvPr id="28" name="Oval 27"/>
          <p:cNvSpPr/>
          <p:nvPr/>
        </p:nvSpPr>
        <p:spPr>
          <a:xfrm>
            <a:off x="640080" y="4343400"/>
            <a:ext cx="384048" cy="384048"/>
          </a:xfrm>
          <a:prstGeom prst="ellipse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40080" y="4343400"/>
            <a:ext cx="384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80160" y="4343400"/>
            <a:ext cx="21945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 i="0">
                <a:solidFill>
                  <a:srgbClr val="1F3A5F"/>
                </a:solidFill>
                <a:latin typeface="Calibri"/>
              </a:rPr>
              <a:t>Results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66160" y="4343400"/>
            <a:ext cx="81381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 i="0">
                <a:solidFill>
                  <a:srgbClr val="556070"/>
                </a:solidFill>
                <a:latin typeface="Calibri"/>
              </a:rPr>
              <a:t>How well does it actually perform?</a:t>
            </a:r>
          </a:p>
        </p:txBody>
      </p:sp>
      <p:sp>
        <p:nvSpPr>
          <p:cNvPr id="32" name="Oval 31"/>
          <p:cNvSpPr/>
          <p:nvPr/>
        </p:nvSpPr>
        <p:spPr>
          <a:xfrm>
            <a:off x="640080" y="4818888"/>
            <a:ext cx="384048" cy="384048"/>
          </a:xfrm>
          <a:prstGeom prst="ellipse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40080" y="4818888"/>
            <a:ext cx="384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80160" y="4818888"/>
            <a:ext cx="21945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 i="0">
                <a:solidFill>
                  <a:srgbClr val="1F3A5F"/>
                </a:solidFill>
                <a:latin typeface="Calibri"/>
              </a:rPr>
              <a:t>Validation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66160" y="4818888"/>
            <a:ext cx="81381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 i="0">
                <a:solidFill>
                  <a:srgbClr val="556070"/>
                </a:solidFill>
                <a:latin typeface="Calibri"/>
              </a:rPr>
              <a:t>Cross-validation and baseline comparison.</a:t>
            </a:r>
          </a:p>
        </p:txBody>
      </p:sp>
      <p:sp>
        <p:nvSpPr>
          <p:cNvPr id="36" name="Oval 35"/>
          <p:cNvSpPr/>
          <p:nvPr/>
        </p:nvSpPr>
        <p:spPr>
          <a:xfrm>
            <a:off x="640080" y="5294376"/>
            <a:ext cx="384048" cy="384048"/>
          </a:xfrm>
          <a:prstGeom prst="ellipse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40080" y="5294376"/>
            <a:ext cx="384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280160" y="5294376"/>
            <a:ext cx="21945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 i="0">
                <a:solidFill>
                  <a:srgbClr val="1F3A5F"/>
                </a:solidFill>
                <a:latin typeface="Calibri"/>
              </a:rPr>
              <a:t>Limits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66160" y="5294376"/>
            <a:ext cx="81381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 i="0">
                <a:solidFill>
                  <a:srgbClr val="556070"/>
                </a:solidFill>
                <a:latin typeface="Calibri"/>
              </a:rPr>
              <a:t>Where the model breaks down.</a:t>
            </a:r>
          </a:p>
        </p:txBody>
      </p:sp>
      <p:sp>
        <p:nvSpPr>
          <p:cNvPr id="40" name="Oval 39"/>
          <p:cNvSpPr/>
          <p:nvPr/>
        </p:nvSpPr>
        <p:spPr>
          <a:xfrm>
            <a:off x="640080" y="5769864"/>
            <a:ext cx="384048" cy="384048"/>
          </a:xfrm>
          <a:prstGeom prst="ellipse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40080" y="5769864"/>
            <a:ext cx="384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5769864"/>
            <a:ext cx="21945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 i="0">
                <a:solidFill>
                  <a:srgbClr val="1F3A5F"/>
                </a:solidFill>
                <a:latin typeface="Calibri"/>
              </a:rPr>
              <a:t>Conclusion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66160" y="5769864"/>
            <a:ext cx="81381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 i="0">
                <a:solidFill>
                  <a:srgbClr val="556070"/>
                </a:solidFill>
                <a:latin typeface="Calibri"/>
              </a:rPr>
              <a:t>What we learned and what comes next.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6492240"/>
            <a:ext cx="7315200" cy="24622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dirty="0">
                <a:solidFill>
                  <a:srgbClr val="556070"/>
                </a:solidFill>
                <a:latin typeface="Calibri"/>
              </a:rPr>
              <a:t>Online Shoppers Purchase-Intention Capstone  |  </a:t>
            </a:r>
            <a:r>
              <a:rPr sz="1000" b="0" i="0" dirty="0" err="1">
                <a:solidFill>
                  <a:srgbClr val="556070"/>
                </a:solidFill>
                <a:latin typeface="Calibri"/>
              </a:rPr>
              <a:t>kNN</a:t>
            </a:r>
            <a:endParaRPr sz="1000" b="0" i="0" dirty="0">
              <a:solidFill>
                <a:srgbClr val="556070"/>
              </a:solidFill>
              <a:latin typeface="Calibri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56070"/>
                </a:solidFill>
                <a:latin typeface="Calibri"/>
              </a:rPr>
              <a:t>Slide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64008"/>
            <a:ext cx="11612880" cy="36576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02  • 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F3A5F"/>
                </a:solidFill>
                <a:latin typeface="Calibri"/>
              </a:rPr>
              <a:t>The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1" dirty="0">
                <a:solidFill>
                  <a:srgbClr val="556070"/>
                </a:solidFill>
                <a:latin typeface="Calibri"/>
              </a:rPr>
              <a:t>Most online sessions never become a purchase. Can we predict which ones will?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691640"/>
            <a:ext cx="1371600" cy="45720"/>
          </a:xfrm>
          <a:prstGeom prst="rect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457200" y="2011680"/>
            <a:ext cx="5486400" cy="40233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" y="2194560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 i="0">
                <a:solidFill>
                  <a:srgbClr val="1F3A5F"/>
                </a:solidFill>
                <a:latin typeface="Calibri"/>
              </a:rPr>
              <a:t>Business Question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743200"/>
            <a:ext cx="51206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•  E-commerce sites get millions of sessions, but only a small fraction convert.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•  Knowing in advance which sessions are likely to buy lets the business intervene — discounts, live chat, retargeting.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•  Goal: given a session’s behavior and metadata, predict whether it will end in a purchase.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2011680"/>
            <a:ext cx="5486400" cy="4023360"/>
          </a:xfrm>
          <a:prstGeom prst="roundRect">
            <a:avLst/>
          </a:prstGeom>
          <a:solidFill>
            <a:srgbClr val="1F3A5F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0" y="2194560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 i="0">
                <a:solidFill>
                  <a:srgbClr val="DD8452"/>
                </a:solidFill>
                <a:latin typeface="Calibri"/>
              </a:rPr>
              <a:t>ML Framing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743200"/>
            <a:ext cx="51206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>
                <a:solidFill>
                  <a:srgbClr val="FFFFFF"/>
                </a:solidFill>
                <a:latin typeface="Calibri"/>
              </a:rPr>
              <a:t>•  Binary classification: 1 = purchase, 0 = no purchase.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>
                <a:solidFill>
                  <a:srgbClr val="FFFFFF"/>
                </a:solidFill>
                <a:latin typeface="Calibri"/>
              </a:rPr>
              <a:t>•  Highly imbalanced — only 15.47% of sessions are positives.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>
                <a:solidFill>
                  <a:srgbClr val="FFFFFF"/>
                </a:solidFill>
                <a:latin typeface="Calibri"/>
              </a:rPr>
              <a:t>•  Therefore: accuracy alone is misleading. Must report precision, recall, and F1.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>
                <a:solidFill>
                  <a:srgbClr val="FFFFFF"/>
                </a:solidFill>
                <a:latin typeface="Calibri"/>
              </a:rPr>
              <a:t>•  Algorithm of choice: k-Nearest Neighbors, implemented from scratch in NumPy.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92240"/>
            <a:ext cx="7315200" cy="24622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dirty="0">
                <a:solidFill>
                  <a:srgbClr val="556070"/>
                </a:solidFill>
                <a:latin typeface="Calibri"/>
              </a:rPr>
              <a:t>Online Shoppers Purchase-Intention Capstone  |  </a:t>
            </a:r>
            <a:r>
              <a:rPr sz="1000" b="0" i="0" dirty="0" err="1">
                <a:solidFill>
                  <a:srgbClr val="556070"/>
                </a:solidFill>
                <a:latin typeface="Calibri"/>
              </a:rPr>
              <a:t>kNN</a:t>
            </a:r>
            <a:endParaRPr sz="1000" b="0" i="0" dirty="0">
              <a:solidFill>
                <a:srgbClr val="556070"/>
              </a:solidFill>
              <a:latin typeface="Calibri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56070"/>
                </a:solidFill>
                <a:latin typeface="Calibri"/>
              </a:rPr>
              <a:t>Slide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64008"/>
            <a:ext cx="11612880" cy="36576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03  • 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F3A5F"/>
                </a:solidFill>
                <a:latin typeface="Calibri"/>
              </a:rPr>
              <a:t>The Dataset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1">
                <a:solidFill>
                  <a:srgbClr val="556070"/>
                </a:solidFill>
                <a:latin typeface="Calibri"/>
              </a:rPr>
              <a:t>UCI Online Shoppers Purchasing Intention — 12,330 real e-commerce sessions.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691640"/>
            <a:ext cx="1371600" cy="45720"/>
          </a:xfrm>
          <a:prstGeom prst="rect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457200" y="1965960"/>
            <a:ext cx="2606040" cy="12801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2606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000" b="1" i="0">
                <a:solidFill>
                  <a:srgbClr val="1F3A5F"/>
                </a:solidFill>
                <a:latin typeface="Calibri"/>
              </a:rPr>
              <a:t>12,330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834640"/>
            <a:ext cx="2606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 i="0">
                <a:solidFill>
                  <a:srgbClr val="556070"/>
                </a:solidFill>
                <a:latin typeface="Calibri"/>
              </a:rPr>
              <a:t>Sessions in dataset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46120" y="1965960"/>
            <a:ext cx="2606040" cy="12801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246120" y="2148840"/>
            <a:ext cx="2606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000" b="1" i="0">
                <a:solidFill>
                  <a:srgbClr val="1F3A5F"/>
                </a:solidFill>
                <a:latin typeface="Calibri"/>
              </a:rPr>
              <a:t>17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6120" y="2834640"/>
            <a:ext cx="2606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 i="0">
                <a:solidFill>
                  <a:srgbClr val="556070"/>
                </a:solidFill>
                <a:latin typeface="Calibri"/>
              </a:rPr>
              <a:t>Predictor features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35040" y="1965960"/>
            <a:ext cx="2606040" cy="12801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035040" y="2148840"/>
            <a:ext cx="2606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000" b="1" i="0">
                <a:solidFill>
                  <a:srgbClr val="DD8452"/>
                </a:solidFill>
                <a:latin typeface="Calibri"/>
              </a:rPr>
              <a:t>15.47%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35040" y="2834640"/>
            <a:ext cx="2606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 i="0">
                <a:solidFill>
                  <a:srgbClr val="556070"/>
                </a:solidFill>
                <a:latin typeface="Calibri"/>
              </a:rPr>
              <a:t>Sessions that purchase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823960" y="1965960"/>
            <a:ext cx="2606040" cy="12801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823960" y="2148840"/>
            <a:ext cx="2606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000" b="1" i="0">
                <a:solidFill>
                  <a:srgbClr val="DD8452"/>
                </a:solidFill>
                <a:latin typeface="Calibri"/>
              </a:rPr>
              <a:t>5.46 : 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23960" y="2834640"/>
            <a:ext cx="2606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 i="0">
                <a:solidFill>
                  <a:srgbClr val="556070"/>
                </a:solidFill>
                <a:latin typeface="Calibri"/>
              </a:rPr>
              <a:t>No-buy : Buy ratio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52044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>
                <a:solidFill>
                  <a:srgbClr val="1F3A5F"/>
                </a:solidFill>
                <a:latin typeface="Calibri"/>
              </a:rPr>
              <a:t>Feature categories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3931920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Page visits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06040" y="3931920"/>
            <a:ext cx="3840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Administrative, Informational, ProductRelated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0" y="393192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1">
                <a:solidFill>
                  <a:srgbClr val="556070"/>
                </a:solidFill>
                <a:latin typeface="Calibri"/>
              </a:rPr>
              <a:t>How many pages of each kind were viewed.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306824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Time spent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06040" y="4306824"/>
            <a:ext cx="3840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*_Duration columns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0" y="4306824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1">
                <a:solidFill>
                  <a:srgbClr val="556070"/>
                </a:solidFill>
                <a:latin typeface="Calibri"/>
              </a:rPr>
              <a:t>Total seconds on each page type.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4681728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Google Analytics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06040" y="4681728"/>
            <a:ext cx="3840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BounceRates, ExitRates, PageValues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0" y="4681728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1">
                <a:solidFill>
                  <a:srgbClr val="556070"/>
                </a:solidFill>
                <a:latin typeface="Calibri"/>
              </a:rPr>
              <a:t>Site-side metrics; PageValues is highly predictive.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5056632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Calendar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06040" y="5056632"/>
            <a:ext cx="3840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SpecialDay, Month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5056632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1">
                <a:solidFill>
                  <a:srgbClr val="556070"/>
                </a:solidFill>
                <a:latin typeface="Calibri"/>
              </a:rPr>
              <a:t>Closeness to holidays; visit month.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5431536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Tech metadata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606040" y="5431536"/>
            <a:ext cx="3840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OperatingSystems, Browser, Region, TrafficType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0" y="5431536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1">
                <a:solidFill>
                  <a:srgbClr val="556070"/>
                </a:solidFill>
                <a:latin typeface="Calibri"/>
              </a:rPr>
              <a:t>User connection profile.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5806440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Visitor info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606040" y="5806440"/>
            <a:ext cx="3840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VisitorType, Weekend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0" y="580644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1">
                <a:solidFill>
                  <a:srgbClr val="556070"/>
                </a:solidFill>
                <a:latin typeface="Calibri"/>
              </a:rPr>
              <a:t>Returning vs. new; weekend flag.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6492240"/>
            <a:ext cx="7315200" cy="24622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dirty="0">
                <a:solidFill>
                  <a:srgbClr val="556070"/>
                </a:solidFill>
                <a:latin typeface="Calibri"/>
              </a:rPr>
              <a:t>Online Shoppers Purchase-Intention Capstone  |  </a:t>
            </a:r>
            <a:r>
              <a:rPr sz="1000" b="0" i="0" dirty="0" err="1">
                <a:solidFill>
                  <a:srgbClr val="556070"/>
                </a:solidFill>
                <a:latin typeface="Calibri"/>
              </a:rPr>
              <a:t>kNN</a:t>
            </a:r>
            <a:endParaRPr sz="1000" b="0" i="0" dirty="0">
              <a:solidFill>
                <a:srgbClr val="556070"/>
              </a:solidFill>
              <a:latin typeface="Calibri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56070"/>
                </a:solidFill>
                <a:latin typeface="Calibri"/>
              </a:rPr>
              <a:t>Slide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64008"/>
            <a:ext cx="11612880" cy="36576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04  •  EDA — Class imbalance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F3A5F"/>
                </a:solidFill>
                <a:latin typeface="Calibri"/>
              </a:rPr>
              <a:t>For Every 1 Buyer, ~5.5 People Just Browsed and Left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1">
                <a:solidFill>
                  <a:srgbClr val="556070"/>
                </a:solidFill>
                <a:latin typeface="Calibri"/>
              </a:rPr>
              <a:t>This is normal for e-commerce, but it shapes the entire evaluation strategy.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691640"/>
            <a:ext cx="1371600" cy="45720"/>
          </a:xfrm>
          <a:prstGeom prst="rect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fig1_class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920240"/>
            <a:ext cx="6126480" cy="4323528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766560" y="1920240"/>
            <a:ext cx="4937760" cy="42976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903720" y="2057400"/>
            <a:ext cx="4663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 i="0">
                <a:solidFill>
                  <a:srgbClr val="DD8452"/>
                </a:solidFill>
                <a:latin typeface="Calibri"/>
              </a:rPr>
              <a:t>The "Accuracy Trap"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03720" y="2606040"/>
            <a:ext cx="46634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•  A model that always says "No-Buy" is right 84.5% of the time.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•  That’s an 84% accuracy with zero learning.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•  So accuracy alone is not a passing grade.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•  We commit upfront to reporting precision, recall, F1, and the confusion matrix.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92240"/>
            <a:ext cx="7315200" cy="24622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dirty="0">
                <a:solidFill>
                  <a:srgbClr val="556070"/>
                </a:solidFill>
                <a:latin typeface="Calibri"/>
              </a:rPr>
              <a:t>Online Shoppers Purchase-Intention Capstone  |  </a:t>
            </a:r>
            <a:r>
              <a:rPr sz="1000" b="0" i="0" dirty="0" err="1">
                <a:solidFill>
                  <a:srgbClr val="556070"/>
                </a:solidFill>
                <a:latin typeface="Calibri"/>
              </a:rPr>
              <a:t>kNN</a:t>
            </a:r>
            <a:endParaRPr sz="1000" b="0" i="0" dirty="0">
              <a:solidFill>
                <a:srgbClr val="556070"/>
              </a:solidFill>
              <a:latin typeface="Calibri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56070"/>
                </a:solidFill>
                <a:latin typeface="Calibri"/>
              </a:rPr>
              <a:t>Slide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64008"/>
            <a:ext cx="11612880" cy="36576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04  •  EDA — Feature relationships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F3A5F"/>
                </a:solidFill>
                <a:latin typeface="Calibri"/>
              </a:rPr>
              <a:t>Some Features Are Saying the Same Thing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1">
                <a:solidFill>
                  <a:srgbClr val="556070"/>
                </a:solidFill>
                <a:latin typeface="Calibri"/>
              </a:rPr>
              <a:t>Multicollinearity matters for kNN — duplicate signals get double-counted in distance.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691640"/>
            <a:ext cx="1371600" cy="45720"/>
          </a:xfrm>
          <a:prstGeom prst="rect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fig2_correlation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83080"/>
            <a:ext cx="6736384" cy="470916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498079" y="1828800"/>
            <a:ext cx="4297680" cy="43891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635240" y="1965960"/>
            <a:ext cx="4023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 i="0">
                <a:solidFill>
                  <a:srgbClr val="1F3A5F"/>
                </a:solidFill>
                <a:latin typeface="Calibri"/>
              </a:rPr>
              <a:t>Notable Pairs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2514600"/>
            <a:ext cx="4023360" cy="14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dirty="0">
                <a:solidFill>
                  <a:srgbClr val="1A1A1A"/>
                </a:solidFill>
                <a:latin typeface="Calibri"/>
              </a:rPr>
              <a:t>•  </a:t>
            </a:r>
            <a:r>
              <a:rPr sz="1600" dirty="0" err="1">
                <a:solidFill>
                  <a:srgbClr val="1A1A1A"/>
                </a:solidFill>
                <a:latin typeface="Calibri"/>
              </a:rPr>
              <a:t>BounceRates</a:t>
            </a:r>
            <a:r>
              <a:rPr sz="1600" dirty="0">
                <a:solidFill>
                  <a:srgbClr val="1A1A1A"/>
                </a:solidFill>
                <a:latin typeface="Calibri"/>
              </a:rPr>
              <a:t> ↔ </a:t>
            </a:r>
            <a:r>
              <a:rPr sz="1600" dirty="0" err="1">
                <a:solidFill>
                  <a:srgbClr val="1A1A1A"/>
                </a:solidFill>
                <a:latin typeface="Calibri"/>
              </a:rPr>
              <a:t>ExitRates</a:t>
            </a:r>
            <a:r>
              <a:rPr sz="1600" dirty="0">
                <a:solidFill>
                  <a:srgbClr val="1A1A1A"/>
                </a:solidFill>
                <a:latin typeface="Calibri"/>
              </a:rPr>
              <a:t>:  r = 0.913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dirty="0">
                <a:solidFill>
                  <a:srgbClr val="1A1A1A"/>
                </a:solidFill>
                <a:latin typeface="Calibri"/>
              </a:rPr>
              <a:t>•  </a:t>
            </a:r>
            <a:r>
              <a:rPr sz="1600" dirty="0" err="1">
                <a:solidFill>
                  <a:srgbClr val="1A1A1A"/>
                </a:solidFill>
                <a:latin typeface="Calibri"/>
              </a:rPr>
              <a:t>ProductRelated</a:t>
            </a:r>
            <a:r>
              <a:rPr sz="1600" dirty="0">
                <a:solidFill>
                  <a:srgbClr val="1A1A1A"/>
                </a:solidFill>
                <a:latin typeface="Calibri"/>
              </a:rPr>
              <a:t> </a:t>
            </a:r>
            <a:endParaRPr lang="en-US" sz="1600" dirty="0">
              <a:solidFill>
                <a:srgbClr val="1A1A1A"/>
              </a:solidFill>
              <a:latin typeface="Calibri"/>
            </a:endParaRP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lang="en-PH" sz="1600" dirty="0">
                <a:solidFill>
                  <a:srgbClr val="1A1A1A"/>
                </a:solidFill>
                <a:latin typeface="Calibri"/>
              </a:rPr>
              <a:t>	↔ 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dirty="0" err="1">
                <a:solidFill>
                  <a:srgbClr val="1A1A1A"/>
                </a:solidFill>
                <a:latin typeface="Calibri"/>
              </a:rPr>
              <a:t>ProductRelated_Duration</a:t>
            </a:r>
            <a:r>
              <a:rPr sz="1600" dirty="0">
                <a:solidFill>
                  <a:srgbClr val="1A1A1A"/>
                </a:solidFill>
                <a:latin typeface="Calibri"/>
              </a:rPr>
              <a:t>:  r = 0.861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35240" y="4297680"/>
            <a:ext cx="4023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DD8452"/>
                </a:solidFill>
                <a:latin typeface="Calibri"/>
              </a:rPr>
              <a:t>Why It Matters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35240" y="4754880"/>
            <a:ext cx="4023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>
                <a:solidFill>
                  <a:srgbClr val="1A1A1A"/>
                </a:solidFill>
                <a:latin typeface="Calibri"/>
              </a:rPr>
              <a:t>•  kNN measures distance using all features at once.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>
                <a:solidFill>
                  <a:srgbClr val="1A1A1A"/>
                </a:solidFill>
                <a:latin typeface="Calibri"/>
              </a:rPr>
              <a:t>•  Duplicate features inflate that behavior’s influence on neighbor selection.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92240"/>
            <a:ext cx="7315200" cy="24622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dirty="0">
                <a:solidFill>
                  <a:srgbClr val="556070"/>
                </a:solidFill>
                <a:latin typeface="Calibri"/>
              </a:rPr>
              <a:t>Online Shoppers Purchase-Intention Capstone  |  </a:t>
            </a:r>
            <a:r>
              <a:rPr lang="en-US" sz="1000" b="0" i="0" dirty="0" err="1">
                <a:solidFill>
                  <a:srgbClr val="556070"/>
                </a:solidFill>
                <a:latin typeface="Calibri"/>
              </a:rPr>
              <a:t>kNN</a:t>
            </a:r>
            <a:endParaRPr sz="1000" b="0" i="0" dirty="0">
              <a:solidFill>
                <a:srgbClr val="556070"/>
              </a:solidFill>
              <a:latin typeface="Calibri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56070"/>
                </a:solidFill>
                <a:latin typeface="Calibri"/>
              </a:rPr>
              <a:t>Slide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64008"/>
            <a:ext cx="11612880" cy="36576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04  •  EDA — Strongest signal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F3A5F"/>
                </a:solidFill>
                <a:latin typeface="Calibri"/>
              </a:rPr>
              <a:t>PageValues: The Single Most Predictive Feature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1">
                <a:solidFill>
                  <a:srgbClr val="556070"/>
                </a:solidFill>
                <a:latin typeface="Calibri"/>
              </a:rPr>
              <a:t>Buyers arrive at high-value pages; non-buyers don’t.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691640"/>
            <a:ext cx="1371600" cy="45720"/>
          </a:xfrm>
          <a:prstGeom prst="rect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fig3_pagevalues_box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920240"/>
            <a:ext cx="7315200" cy="2762595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955279" y="1920240"/>
            <a:ext cx="3840480" cy="42976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092440" y="2057400"/>
            <a:ext cx="3566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 i="0">
                <a:solidFill>
                  <a:srgbClr val="1F3A5F"/>
                </a:solidFill>
                <a:latin typeface="Calibri"/>
              </a:rPr>
              <a:t>The Numbers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606040"/>
            <a:ext cx="35661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•  Buyer mean: 27.26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•  Non-buyer mean: 1.98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•  13.8× difference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•  Non-buyer median: literally 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92440" y="4754880"/>
            <a:ext cx="3566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DD8452"/>
                </a:solidFill>
                <a:latin typeface="Calibri"/>
              </a:rPr>
              <a:t>Why It Matters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92440" y="5212080"/>
            <a:ext cx="3566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>
                <a:solidFill>
                  <a:srgbClr val="1A1A1A"/>
                </a:solidFill>
                <a:latin typeface="Calibri"/>
              </a:rPr>
              <a:t>•  Strong class separability is exactly what kNN exploits.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92240"/>
            <a:ext cx="7315200" cy="24622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dirty="0">
                <a:solidFill>
                  <a:srgbClr val="556070"/>
                </a:solidFill>
                <a:latin typeface="Calibri"/>
              </a:rPr>
              <a:t>Online Shoppers Purchase-Intention Capstone  |  </a:t>
            </a:r>
            <a:r>
              <a:rPr sz="1000" b="0" i="0" dirty="0" err="1">
                <a:solidFill>
                  <a:srgbClr val="556070"/>
                </a:solidFill>
                <a:latin typeface="Calibri"/>
              </a:rPr>
              <a:t>kNN</a:t>
            </a:r>
            <a:endParaRPr sz="1000" b="0" i="0" dirty="0">
              <a:solidFill>
                <a:srgbClr val="556070"/>
              </a:solidFill>
              <a:latin typeface="Calibri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56070"/>
                </a:solidFill>
                <a:latin typeface="Calibri"/>
              </a:rPr>
              <a:t>Slide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64008"/>
            <a:ext cx="11612880" cy="36576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04  •  EDA — Engagement signal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F3A5F"/>
                </a:solidFill>
                <a:latin typeface="Calibri"/>
              </a:rPr>
              <a:t>Buyers Stay. Non-Buyers Drift Away.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1">
                <a:solidFill>
                  <a:srgbClr val="556070"/>
                </a:solidFill>
                <a:latin typeface="Calibri"/>
              </a:rPr>
              <a:t>BounceRate captures the difference between intent and casual browsing.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691640"/>
            <a:ext cx="1371600" cy="45720"/>
          </a:xfrm>
          <a:prstGeom prst="rect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fig4_bouncerates_box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920240"/>
            <a:ext cx="7315200" cy="2762595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955279" y="1920240"/>
            <a:ext cx="3840480" cy="42976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092440" y="2057400"/>
            <a:ext cx="3566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 i="0">
                <a:solidFill>
                  <a:srgbClr val="1F3A5F"/>
                </a:solidFill>
                <a:latin typeface="Calibri"/>
              </a:rPr>
              <a:t>Engagement Gap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606040"/>
            <a:ext cx="35661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•  Buyer mean bounce: 0.0051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•  Non-buyer mean: 0.0253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•  Roughly 5× higher for non-buyers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•  Buyer median: 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92440" y="4754880"/>
            <a:ext cx="3566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DD8452"/>
                </a:solidFill>
                <a:latin typeface="Calibri"/>
              </a:rPr>
              <a:t>Implication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92440" y="5212080"/>
            <a:ext cx="3566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>
                <a:solidFill>
                  <a:srgbClr val="1A1A1A"/>
                </a:solidFill>
                <a:latin typeface="Calibri"/>
              </a:rPr>
              <a:t>•  Engagement depth is strongly tied to purchase completion.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92240"/>
            <a:ext cx="7315200" cy="24622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dirty="0">
                <a:solidFill>
                  <a:srgbClr val="556070"/>
                </a:solidFill>
                <a:latin typeface="Calibri"/>
              </a:rPr>
              <a:t>Online Shoppers Purchase-Intention Capstone  |  </a:t>
            </a:r>
            <a:r>
              <a:rPr sz="1000" b="0" i="0" dirty="0" err="1">
                <a:solidFill>
                  <a:srgbClr val="556070"/>
                </a:solidFill>
                <a:latin typeface="Calibri"/>
              </a:rPr>
              <a:t>kNN</a:t>
            </a:r>
            <a:endParaRPr sz="1000" b="0" i="0" dirty="0">
              <a:solidFill>
                <a:srgbClr val="556070"/>
              </a:solidFill>
              <a:latin typeface="Calibri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56070"/>
                </a:solidFill>
                <a:latin typeface="Calibri"/>
              </a:rPr>
              <a:t>Slide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64008"/>
            <a:ext cx="11612880" cy="36576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04  •  EDA — Temporal pattern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F3A5F"/>
                </a:solidFill>
                <a:latin typeface="Calibri"/>
              </a:rPr>
              <a:t>November Is the Month That Matters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1">
                <a:solidFill>
                  <a:srgbClr val="556070"/>
                </a:solidFill>
                <a:latin typeface="Calibri"/>
              </a:rPr>
              <a:t>Conversion rate isn’t flat across the year. It spikes during holiday shopping.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691640"/>
            <a:ext cx="1371600" cy="45720"/>
          </a:xfrm>
          <a:prstGeom prst="rect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fig5_purchases_by_mon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920240"/>
            <a:ext cx="7772400" cy="383607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412480" y="1920240"/>
            <a:ext cx="3383280" cy="42976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549640" y="2057400"/>
            <a:ext cx="3108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>
                <a:solidFill>
                  <a:srgbClr val="1F3A5F"/>
                </a:solidFill>
                <a:latin typeface="Calibri"/>
              </a:rPr>
              <a:t>Conversion by Month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49640" y="2606040"/>
            <a:ext cx="31089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>
                <a:solidFill>
                  <a:srgbClr val="1A1A1A"/>
                </a:solidFill>
                <a:latin typeface="Calibri"/>
              </a:rPr>
              <a:t>•  Feb:    1.63%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>
                <a:solidFill>
                  <a:srgbClr val="1A1A1A"/>
                </a:solidFill>
                <a:latin typeface="Calibri"/>
              </a:rPr>
              <a:t>•  Mar:    10.03%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>
                <a:solidFill>
                  <a:srgbClr val="1A1A1A"/>
                </a:solidFill>
                <a:latin typeface="Calibri"/>
              </a:rPr>
              <a:t>•  May:    10.85%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>
                <a:solidFill>
                  <a:srgbClr val="1A1A1A"/>
                </a:solidFill>
                <a:latin typeface="Calibri"/>
              </a:rPr>
              <a:t>•  Jul:    15.28%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>
                <a:solidFill>
                  <a:srgbClr val="1A1A1A"/>
                </a:solidFill>
                <a:latin typeface="Calibri"/>
              </a:rPr>
              <a:t>•  Sep:    19.07%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>
                <a:solidFill>
                  <a:srgbClr val="1A1A1A"/>
                </a:solidFill>
                <a:latin typeface="Calibri"/>
              </a:rPr>
              <a:t>•  Nov:    25.35%  ← peak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49640" y="5029200"/>
            <a:ext cx="3108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DD8452"/>
                </a:solidFill>
                <a:latin typeface="Calibri"/>
              </a:rPr>
              <a:t>Takeaway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49640" y="548640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>
                <a:solidFill>
                  <a:srgbClr val="1A1A1A"/>
                </a:solidFill>
                <a:latin typeface="Calibri"/>
              </a:rPr>
              <a:t>•  Month one-hots give the model a strong prior.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92240"/>
            <a:ext cx="7315200" cy="24622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dirty="0">
                <a:solidFill>
                  <a:srgbClr val="556070"/>
                </a:solidFill>
                <a:latin typeface="Calibri"/>
              </a:rPr>
              <a:t>Online Shoppers Purchase-Intention Capstone  |  </a:t>
            </a:r>
            <a:r>
              <a:rPr sz="1000" b="0" i="0" dirty="0" err="1">
                <a:solidFill>
                  <a:srgbClr val="556070"/>
                </a:solidFill>
                <a:latin typeface="Calibri"/>
              </a:rPr>
              <a:t>kNN</a:t>
            </a:r>
            <a:endParaRPr sz="1000" b="0" i="0" dirty="0">
              <a:solidFill>
                <a:srgbClr val="556070"/>
              </a:solidFill>
              <a:latin typeface="Calibri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56070"/>
                </a:solidFill>
                <a:latin typeface="Calibri"/>
              </a:rPr>
              <a:t>Slide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64008"/>
            <a:ext cx="11612880" cy="36576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04  •  EDA — Counter-intuitive insight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F3A5F"/>
                </a:solidFill>
                <a:latin typeface="Calibri"/>
              </a:rPr>
              <a:t>New Visitors Convert Better Than Returning Visitors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1">
                <a:solidFill>
                  <a:srgbClr val="556070"/>
                </a:solidFill>
                <a:latin typeface="Calibri"/>
              </a:rPr>
              <a:t>A surprising result — and exactly the kind of insight a stakeholder would ask about.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691640"/>
            <a:ext cx="1371600" cy="45720"/>
          </a:xfrm>
          <a:prstGeom prst="rect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fig6_visitor_typ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920240"/>
            <a:ext cx="6949440" cy="419156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589520" y="1920240"/>
            <a:ext cx="4206240" cy="42976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726679" y="2057400"/>
            <a:ext cx="3931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 i="0">
                <a:solidFill>
                  <a:srgbClr val="1F3A5F"/>
                </a:solidFill>
                <a:latin typeface="Calibri"/>
              </a:rPr>
              <a:t>Conversion Rate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26679" y="2606040"/>
            <a:ext cx="39319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•  New visitors: 24.91%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•  Returning visitors: 13.93%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•  Almost 2× higher for new visitors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26679" y="4754880"/>
            <a:ext cx="3931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 dirty="0">
                <a:solidFill>
                  <a:srgbClr val="DD8452"/>
                </a:solidFill>
                <a:latin typeface="Calibri"/>
              </a:rPr>
              <a:t>Why?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0" y="4983480"/>
            <a:ext cx="39319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dirty="0">
                <a:solidFill>
                  <a:srgbClr val="1A1A1A"/>
                </a:solidFill>
                <a:latin typeface="Calibri"/>
              </a:rPr>
              <a:t>•  New visitors arrive with high intent (clicked an ad, searched for the product).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dirty="0">
                <a:solidFill>
                  <a:srgbClr val="1A1A1A"/>
                </a:solidFill>
                <a:latin typeface="Calibri"/>
              </a:rPr>
              <a:t>•  Returning visitors include a lot of casual browsers who keep coming back.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92240"/>
            <a:ext cx="7315200" cy="24622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dirty="0">
                <a:solidFill>
                  <a:srgbClr val="556070"/>
                </a:solidFill>
                <a:latin typeface="Calibri"/>
              </a:rPr>
              <a:t>Online Shoppers Purchase-Intention Capstone  |  </a:t>
            </a:r>
            <a:r>
              <a:rPr sz="1000" b="0" i="0" dirty="0" err="1">
                <a:solidFill>
                  <a:srgbClr val="556070"/>
                </a:solidFill>
                <a:latin typeface="Calibri"/>
              </a:rPr>
              <a:t>kNN</a:t>
            </a:r>
            <a:endParaRPr sz="1000" b="0" i="0" dirty="0">
              <a:solidFill>
                <a:srgbClr val="556070"/>
              </a:solidFill>
              <a:latin typeface="Calibri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56070"/>
                </a:solidFill>
                <a:latin typeface="Calibri"/>
              </a:rPr>
              <a:t>Slide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64008"/>
            <a:ext cx="11612880" cy="36576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05  •  Method — How kNN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F3A5F"/>
                </a:solidFill>
                <a:latin typeface="Calibri"/>
              </a:rPr>
              <a:t>k-Nearest Neighbors in One Picture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1">
                <a:solidFill>
                  <a:srgbClr val="556070"/>
                </a:solidFill>
                <a:latin typeface="Calibri"/>
              </a:rPr>
              <a:t>No training step. Just measure distance to every known example and vote.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691640"/>
            <a:ext cx="1371600" cy="45720"/>
          </a:xfrm>
          <a:prstGeom prst="rect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457200" y="2011680"/>
            <a:ext cx="11247120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685800" y="2176272"/>
            <a:ext cx="548640" cy="548640"/>
          </a:xfrm>
          <a:prstGeom prst="ellipse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217627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 i="0" dirty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2057400"/>
            <a:ext cx="23774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 i="0">
                <a:solidFill>
                  <a:srgbClr val="1F3A5F"/>
                </a:solidFill>
                <a:latin typeface="Calibri"/>
              </a:rPr>
              <a:t>Standardize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0" y="2057400"/>
            <a:ext cx="76809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Subtract the training mean and divide by the training std for every feature, so no feature dominates by sheer scale.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971800"/>
            <a:ext cx="11247120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685800" y="3136392"/>
            <a:ext cx="548640" cy="548640"/>
          </a:xfrm>
          <a:prstGeom prst="ellipse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85800" y="313639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3017520"/>
            <a:ext cx="23774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 i="0">
                <a:solidFill>
                  <a:srgbClr val="1F3A5F"/>
                </a:solidFill>
                <a:latin typeface="Calibri"/>
              </a:rPr>
              <a:t>Measure distance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40480" y="3017520"/>
            <a:ext cx="76809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For a new session, compute Euclidean distance to every training point: √Σ(xᵢ − tᵢ)².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931920"/>
            <a:ext cx="11247120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685800" y="4096512"/>
            <a:ext cx="548640" cy="548640"/>
          </a:xfrm>
          <a:prstGeom prst="ellipse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85800" y="409651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17320" y="3977640"/>
            <a:ext cx="23774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 i="0">
                <a:solidFill>
                  <a:srgbClr val="1F3A5F"/>
                </a:solidFill>
                <a:latin typeface="Calibri"/>
              </a:rPr>
              <a:t>Pick the k closest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40480" y="3977640"/>
            <a:ext cx="76809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Sort by distance and keep the k smallest — those are the k most similar past sessions.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4892040"/>
            <a:ext cx="11247120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685800" y="5056632"/>
            <a:ext cx="548640" cy="548640"/>
          </a:xfrm>
          <a:prstGeom prst="ellipse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85800" y="50566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17320" y="4937760"/>
            <a:ext cx="23774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 i="0">
                <a:solidFill>
                  <a:srgbClr val="1F3A5F"/>
                </a:solidFill>
                <a:latin typeface="Calibri"/>
              </a:rPr>
              <a:t>Majority vote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40480" y="4937760"/>
            <a:ext cx="76809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Look at their Revenue labels. Whichever class appears more often wins. That’s the prediction.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492240"/>
            <a:ext cx="7315200" cy="24622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dirty="0">
                <a:solidFill>
                  <a:srgbClr val="556070"/>
                </a:solidFill>
                <a:latin typeface="Calibri"/>
              </a:rPr>
              <a:t>Online Shoppers Purchase-Intention Capstone  |  </a:t>
            </a:r>
            <a:r>
              <a:rPr sz="1000" b="0" i="0" dirty="0" err="1">
                <a:solidFill>
                  <a:srgbClr val="556070"/>
                </a:solidFill>
                <a:latin typeface="Calibri"/>
              </a:rPr>
              <a:t>kNN</a:t>
            </a:r>
            <a:endParaRPr sz="1000" b="0" i="0" dirty="0">
              <a:solidFill>
                <a:srgbClr val="556070"/>
              </a:solidFill>
              <a:latin typeface="Calibri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56070"/>
                </a:solidFill>
                <a:latin typeface="Calibri"/>
              </a:rPr>
              <a:t>Slide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64008"/>
            <a:ext cx="11612880" cy="36576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05  •  Method — Implementation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1247120" cy="55399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 dirty="0">
                <a:solidFill>
                  <a:srgbClr val="1F3A5F"/>
                </a:solidFill>
                <a:latin typeface="Calibri"/>
              </a:rPr>
              <a:t>The Pipeline We Built — Seven Scripts</a:t>
            </a:r>
            <a:r>
              <a:rPr lang="en-US" sz="3000" b="1" dirty="0">
                <a:solidFill>
                  <a:srgbClr val="1F3A5F"/>
                </a:solidFill>
                <a:latin typeface="Calibri"/>
              </a:rPr>
              <a:t> </a:t>
            </a:r>
            <a:r>
              <a:rPr sz="3000" b="1" i="0" dirty="0">
                <a:solidFill>
                  <a:srgbClr val="1F3A5F"/>
                </a:solidFill>
                <a:latin typeface="Calibri"/>
              </a:rPr>
              <a:t>Estimators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11247120" cy="3231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1" dirty="0">
                <a:solidFill>
                  <a:srgbClr val="556070"/>
                </a:solidFill>
                <a:latin typeface="Calibri"/>
              </a:rPr>
              <a:t>Every step was implemented from</a:t>
            </a:r>
            <a:r>
              <a:rPr lang="en-US" sz="1500" i="1" dirty="0">
                <a:solidFill>
                  <a:srgbClr val="556070"/>
                </a:solidFill>
                <a:latin typeface="Calibri"/>
              </a:rPr>
              <a:t> </a:t>
            </a:r>
            <a:r>
              <a:rPr sz="1500" b="0" i="1" dirty="0">
                <a:solidFill>
                  <a:srgbClr val="556070"/>
                </a:solidFill>
                <a:latin typeface="Calibri"/>
              </a:rPr>
              <a:t>NumPy to make the algorithm visible.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691640"/>
            <a:ext cx="1371600" cy="45720"/>
          </a:xfrm>
          <a:prstGeom prst="rect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594360" y="2743200"/>
            <a:ext cx="1449977" cy="128016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60" y="2880360"/>
            <a:ext cx="1449977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Inspect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383280"/>
            <a:ext cx="1449977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 i="1">
                <a:solidFill>
                  <a:srgbClr val="DD8452"/>
                </a:solidFill>
                <a:latin typeface="Calibri"/>
              </a:rPr>
              <a:t>data_inspect.py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044337" y="3246120"/>
            <a:ext cx="137160" cy="274320"/>
          </a:xfrm>
          <a:prstGeom prst="rightArrow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2181497" y="2743200"/>
            <a:ext cx="1449977" cy="128016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181497" y="2880360"/>
            <a:ext cx="1449977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EDA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81497" y="3383280"/>
            <a:ext cx="1449977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 i="1">
                <a:solidFill>
                  <a:srgbClr val="DD8452"/>
                </a:solidFill>
                <a:latin typeface="Calibri"/>
              </a:rPr>
              <a:t>eda.py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3631474" y="3246120"/>
            <a:ext cx="137160" cy="274320"/>
          </a:xfrm>
          <a:prstGeom prst="rightArrow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3768634" y="2743200"/>
            <a:ext cx="1449977" cy="128016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768634" y="2880360"/>
            <a:ext cx="1449977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Preprocess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68634" y="3383280"/>
            <a:ext cx="1449977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 i="1">
                <a:solidFill>
                  <a:srgbClr val="DD8452"/>
                </a:solidFill>
                <a:latin typeface="Calibri"/>
              </a:rPr>
              <a:t>preprocessing.py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5218611" y="3246120"/>
            <a:ext cx="137160" cy="274320"/>
          </a:xfrm>
          <a:prstGeom prst="rightArrow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5355771" y="2743200"/>
            <a:ext cx="1449977" cy="128016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355771" y="2880360"/>
            <a:ext cx="1449977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Split + Scale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55771" y="3383280"/>
            <a:ext cx="1449977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 i="1">
                <a:solidFill>
                  <a:srgbClr val="DD8452"/>
                </a:solidFill>
                <a:latin typeface="Calibri"/>
              </a:rPr>
              <a:t>train_test_split.py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6805748" y="3246120"/>
            <a:ext cx="137160" cy="274320"/>
          </a:xfrm>
          <a:prstGeom prst="rightArrow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6942908" y="2743200"/>
            <a:ext cx="1449977" cy="128016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942908" y="2880360"/>
            <a:ext cx="1449977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kNN model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42908" y="3383280"/>
            <a:ext cx="1449977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 i="1">
                <a:solidFill>
                  <a:srgbClr val="DD8452"/>
                </a:solidFill>
                <a:latin typeface="Calibri"/>
              </a:rPr>
              <a:t>knn_model.py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8392885" y="3246120"/>
            <a:ext cx="137160" cy="274320"/>
          </a:xfrm>
          <a:prstGeom prst="rightArrow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8530045" y="2743200"/>
            <a:ext cx="1449977" cy="128016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530045" y="2880360"/>
            <a:ext cx="1449977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Tune 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30045" y="3383280"/>
            <a:ext cx="1449977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 i="1">
                <a:solidFill>
                  <a:srgbClr val="DD8452"/>
                </a:solidFill>
                <a:latin typeface="Calibri"/>
              </a:rPr>
              <a:t>knn_tune_k.py</a:t>
            </a:r>
          </a:p>
        </p:txBody>
      </p:sp>
      <p:sp>
        <p:nvSpPr>
          <p:cNvPr id="31" name="Right Arrow 30"/>
          <p:cNvSpPr/>
          <p:nvPr/>
        </p:nvSpPr>
        <p:spPr>
          <a:xfrm>
            <a:off x="9980022" y="3246120"/>
            <a:ext cx="137160" cy="274320"/>
          </a:xfrm>
          <a:prstGeom prst="rightArrow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10117182" y="2743200"/>
            <a:ext cx="1449977" cy="128016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10117182" y="2880360"/>
            <a:ext cx="1449977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Final eval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117182" y="3383280"/>
            <a:ext cx="1449977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 i="1">
                <a:solidFill>
                  <a:srgbClr val="DD8452"/>
                </a:solidFill>
                <a:latin typeface="Calibri"/>
              </a:rPr>
              <a:t>final_evaluation.py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457200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>
                <a:solidFill>
                  <a:srgbClr val="1F3A5F"/>
                </a:solidFill>
                <a:latin typeface="Calibri"/>
              </a:rPr>
              <a:t>Key engineering choices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5029200"/>
            <a:ext cx="111556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dirty="0">
                <a:solidFill>
                  <a:srgbClr val="1A1A1A"/>
                </a:solidFill>
                <a:latin typeface="Calibri"/>
              </a:rPr>
              <a:t>•  Stratified 80 / 20 split — preserves the 84.5 / 15.5 class ratio in both partitions.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dirty="0">
                <a:solidFill>
                  <a:srgbClr val="1A1A1A"/>
                </a:solidFill>
                <a:latin typeface="Calibri"/>
              </a:rPr>
              <a:t>•  Standardization fitted on train ONLY — no test-set information leaks into the scaler.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dirty="0">
                <a:solidFill>
                  <a:srgbClr val="1A1A1A"/>
                </a:solidFill>
                <a:latin typeface="Calibri"/>
              </a:rPr>
              <a:t>•  Vectorized Euclidean distance with NumPy broadcasting — fast even at 9,865 × 28.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dirty="0">
                <a:solidFill>
                  <a:srgbClr val="1A1A1A"/>
                </a:solidFill>
                <a:latin typeface="Calibri"/>
              </a:rPr>
              <a:t>•  Manual confusion matrix and metrics — no </a:t>
            </a:r>
            <a:r>
              <a:rPr sz="1300" dirty="0" err="1">
                <a:solidFill>
                  <a:srgbClr val="1A1A1A"/>
                </a:solidFill>
                <a:latin typeface="Calibri"/>
              </a:rPr>
              <a:t>sklearn.metrics</a:t>
            </a:r>
            <a:r>
              <a:rPr sz="1300" dirty="0">
                <a:solidFill>
                  <a:srgbClr val="1A1A1A"/>
                </a:solidFill>
                <a:latin typeface="Calibri"/>
              </a:rPr>
              <a:t> shortcut.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6492240"/>
            <a:ext cx="7315200" cy="24622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dirty="0">
                <a:solidFill>
                  <a:srgbClr val="556070"/>
                </a:solidFill>
                <a:latin typeface="Calibri"/>
              </a:rPr>
              <a:t>Online Shoppers Purchase-Intention Capstone  |  </a:t>
            </a:r>
            <a:r>
              <a:rPr sz="1000" b="0" i="0" dirty="0" err="1">
                <a:solidFill>
                  <a:srgbClr val="556070"/>
                </a:solidFill>
                <a:latin typeface="Calibri"/>
              </a:rPr>
              <a:t>kNN</a:t>
            </a:r>
            <a:endParaRPr sz="1000" b="0" i="0" dirty="0">
              <a:solidFill>
                <a:srgbClr val="556070"/>
              </a:solidFill>
              <a:latin typeface="Calibri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56070"/>
                </a:solidFill>
                <a:latin typeface="Calibri"/>
              </a:rPr>
              <a:t>Slide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64008"/>
            <a:ext cx="11612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05  •  Method — Worked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F3A5F"/>
                </a:solidFill>
                <a:latin typeface="Calibri"/>
              </a:rPr>
              <a:t>One Prediction, Walked Through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1">
                <a:solidFill>
                  <a:srgbClr val="556070"/>
                </a:solidFill>
                <a:latin typeface="Calibri"/>
              </a:rPr>
              <a:t>The same algorithm on a single new session — its seven closest neighbors cast the vote.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691640"/>
            <a:ext cx="1371600" cy="45720"/>
          </a:xfrm>
          <a:prstGeom prst="rect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fig9_sample_predi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828800"/>
            <a:ext cx="5742580" cy="3977639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863840" y="1828800"/>
            <a:ext cx="3931920" cy="3977639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028431" y="2011680"/>
            <a:ext cx="3611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 i="0">
                <a:solidFill>
                  <a:srgbClr val="1F3A5F"/>
                </a:solidFill>
                <a:latin typeface="Calibri"/>
              </a:rPr>
              <a:t>The Vote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28431" y="2560320"/>
            <a:ext cx="361188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>
                <a:solidFill>
                  <a:srgbClr val="1A1A1A"/>
                </a:solidFill>
                <a:latin typeface="Calibri"/>
              </a:rPr>
              <a:t>•  New session: PageValues = 22.4, BounceRates = 0.005, Month = Nov, VisitorType = New.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>
                <a:solidFill>
                  <a:srgbClr val="1A1A1A"/>
                </a:solidFill>
                <a:latin typeface="Calibri"/>
              </a:rPr>
              <a:t>•  Find the 7 most similar past sessions by standardized distance.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>
                <a:solidFill>
                  <a:srgbClr val="1A1A1A"/>
                </a:solidFill>
                <a:latin typeface="Calibri"/>
              </a:rPr>
              <a:t>•  They split 5 buyers vs. 2 non-buyers.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>
                <a:solidFill>
                  <a:srgbClr val="1A1A1A"/>
                </a:solidFill>
                <a:latin typeface="Calibri"/>
              </a:rPr>
              <a:t>•  Majority wins → predict PURCHASE.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>
                <a:solidFill>
                  <a:srgbClr val="1A1A1A"/>
                </a:solidFill>
                <a:latin typeface="Calibri"/>
              </a:rPr>
              <a:t>•  Actual label: Purchase ✓ — the prediction is correct.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8229600" cy="24622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dirty="0">
                <a:solidFill>
                  <a:srgbClr val="556070"/>
                </a:solidFill>
                <a:latin typeface="Calibri"/>
              </a:rPr>
              <a:t>Online Shoppers Purchase-Intention Capstone  |  </a:t>
            </a:r>
            <a:r>
              <a:rPr sz="1000" b="0" i="0" dirty="0" err="1">
                <a:solidFill>
                  <a:srgbClr val="556070"/>
                </a:solidFill>
                <a:latin typeface="Calibri"/>
              </a:rPr>
              <a:t>kNN</a:t>
            </a:r>
            <a:endParaRPr sz="1000" b="0" i="0" dirty="0">
              <a:solidFill>
                <a:srgbClr val="556070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98881022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64008"/>
            <a:ext cx="11612880" cy="36576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06  •  Tuning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F3A5F"/>
                </a:solidFill>
                <a:latin typeface="Calibri"/>
              </a:rPr>
              <a:t>Sweeping k from 1 to 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11247120" cy="3231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US" sz="1500" b="0" i="1" dirty="0">
                <a:solidFill>
                  <a:srgbClr val="556070"/>
                </a:solidFill>
                <a:latin typeface="Calibri"/>
              </a:rPr>
              <a:t>F1 peaks at k = 3; we chose k = 7 for its higher precision. Recall and precision pull in opposite directions.</a:t>
            </a:r>
            <a:endParaRPr sz="1500" b="0" i="1" dirty="0">
              <a:solidFill>
                <a:srgbClr val="556070"/>
              </a:solidFill>
              <a:latin typeface="Calibri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457200" y="1691640"/>
            <a:ext cx="1371600" cy="45720"/>
          </a:xfrm>
          <a:prstGeom prst="rect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7955279" y="1920240"/>
            <a:ext cx="3840480" cy="42976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092440" y="2057400"/>
            <a:ext cx="3566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>
                <a:solidFill>
                  <a:srgbClr val="1F3A5F"/>
                </a:solidFill>
                <a:latin typeface="Calibri"/>
              </a:rPr>
              <a:t>Best k by metric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0" y="2614832"/>
            <a:ext cx="3566160" cy="1536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dirty="0">
                <a:solidFill>
                  <a:srgbClr val="1A1A1A"/>
                </a:solidFill>
                <a:latin typeface="Calibri"/>
              </a:rPr>
              <a:t>•  Best Accuracy:   k = 21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dirty="0">
                <a:solidFill>
                  <a:srgbClr val="1A1A1A"/>
                </a:solidFill>
                <a:latin typeface="Calibri"/>
              </a:rPr>
              <a:t>•  Best Precision: k = 24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dirty="0">
                <a:solidFill>
                  <a:srgbClr val="1A1A1A"/>
                </a:solidFill>
                <a:latin typeface="Calibri"/>
              </a:rPr>
              <a:t>•  Best Recall:     k = 1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dirty="0">
                <a:solidFill>
                  <a:srgbClr val="1A1A1A"/>
                </a:solidFill>
                <a:latin typeface="Calibri"/>
              </a:rPr>
              <a:t>•  Best F1:         k = </a:t>
            </a:r>
            <a:r>
              <a:rPr lang="en-PH" sz="1300" dirty="0">
                <a:solidFill>
                  <a:srgbClr val="1A1A1A"/>
                </a:solidFill>
                <a:latin typeface="Calibri"/>
              </a:rPr>
              <a:t>3</a:t>
            </a:r>
            <a:endParaRPr lang="en-US" sz="1300" dirty="0">
              <a:solidFill>
                <a:srgbClr val="1A1A1A"/>
              </a:solidFill>
              <a:latin typeface="Calibri"/>
            </a:endParaRP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lang="en-US" sz="1300" dirty="0">
                <a:solidFill>
                  <a:srgbClr val="1A1A1A"/>
                </a:solidFill>
                <a:latin typeface="Calibri"/>
              </a:rPr>
              <a:t>Chosen:             k = 7 (higher precision)</a:t>
            </a:r>
            <a:endParaRPr sz="1300" dirty="0">
              <a:solidFill>
                <a:srgbClr val="1A1A1A"/>
              </a:solidFill>
              <a:latin typeface="Calibri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8092440" y="4572000"/>
            <a:ext cx="3566160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PH" sz="1600" b="1" i="0" dirty="0">
                <a:solidFill>
                  <a:srgbClr val="DD8452"/>
                </a:solidFill>
                <a:latin typeface="Calibri"/>
              </a:rPr>
              <a:t>How we chose k</a:t>
            </a:r>
            <a:endParaRPr sz="1600" b="1" i="0" dirty="0">
              <a:solidFill>
                <a:srgbClr val="DD8452"/>
              </a:solidFill>
              <a:latin typeface="Calibri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8092440" y="5029200"/>
            <a:ext cx="3566160" cy="10063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dirty="0">
                <a:solidFill>
                  <a:srgbClr val="1A1A1A"/>
                </a:solidFill>
                <a:latin typeface="Calibri"/>
              </a:rPr>
              <a:t>•  </a:t>
            </a:r>
            <a:r>
              <a:rPr lang="en-US" sz="1200" dirty="0">
                <a:solidFill>
                  <a:srgbClr val="1A1A1A"/>
                </a:solidFill>
                <a:latin typeface="Calibri"/>
              </a:rPr>
              <a:t>F1 to find the peak region (k ≈ 3–9), avoiding both extremes.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dirty="0">
                <a:solidFill>
                  <a:srgbClr val="1A1A1A"/>
                </a:solidFill>
                <a:latin typeface="Calibri"/>
              </a:rPr>
              <a:t>•  </a:t>
            </a:r>
            <a:r>
              <a:rPr lang="en-US" sz="1200" dirty="0">
                <a:solidFill>
                  <a:srgbClr val="1A1A1A"/>
                </a:solidFill>
                <a:latin typeface="Calibri"/>
              </a:rPr>
              <a:t>Precision to pick within it → k = 7 — a confident, conservative classifier.</a:t>
            </a:r>
            <a:endParaRPr sz="1200" dirty="0">
              <a:solidFill>
                <a:srgbClr val="1A1A1A"/>
              </a:solidFill>
              <a:latin typeface="Calibri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457200" y="6492240"/>
            <a:ext cx="7315200" cy="24622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dirty="0">
                <a:solidFill>
                  <a:srgbClr val="556070"/>
                </a:solidFill>
                <a:latin typeface="Calibri"/>
              </a:rPr>
              <a:t>Online Shoppers Purchase-Intention Capstone  |  </a:t>
            </a:r>
            <a:r>
              <a:rPr sz="1000" b="0" i="0" dirty="0" err="1">
                <a:solidFill>
                  <a:srgbClr val="556070"/>
                </a:solidFill>
                <a:latin typeface="Calibri"/>
              </a:rPr>
              <a:t>kN</a:t>
            </a:r>
            <a:r>
              <a:rPr lang="en-US" sz="1000" b="0" i="0" dirty="0" err="1">
                <a:solidFill>
                  <a:srgbClr val="556070"/>
                </a:solidFill>
                <a:latin typeface="Calibri"/>
              </a:rPr>
              <a:t>N</a:t>
            </a:r>
            <a:endParaRPr sz="1000" b="0" i="0" dirty="0">
              <a:solidFill>
                <a:srgbClr val="556070"/>
              </a:solidFill>
              <a:latin typeface="Calibri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56070"/>
                </a:solidFill>
                <a:latin typeface="Calibri"/>
              </a:rPr>
              <a:t>Slide 13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F1B267E2-0090-66C2-4F43-9A070DDC22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904729"/>
            <a:ext cx="7315200" cy="3948596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64008"/>
            <a:ext cx="11612880" cy="36576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07  • 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F3A5F"/>
                </a:solidFill>
                <a:latin typeface="Calibri"/>
              </a:rPr>
              <a:t>Final Test-Set Performance  (k = 7)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1">
                <a:solidFill>
                  <a:srgbClr val="556070"/>
                </a:solidFill>
                <a:latin typeface="Calibri"/>
              </a:rPr>
              <a:t>Held-out 20% test set, 2,465 sessions, never seen during tuning preparation.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691640"/>
            <a:ext cx="1371600" cy="45720"/>
          </a:xfrm>
          <a:prstGeom prst="rect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457200" y="2011680"/>
            <a:ext cx="2697480" cy="14630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2194560"/>
            <a:ext cx="2697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000" b="1" i="0">
                <a:solidFill>
                  <a:srgbClr val="1F3A5F"/>
                </a:solidFill>
                <a:latin typeface="Calibri"/>
              </a:rPr>
              <a:t>87.67%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880360"/>
            <a:ext cx="2697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 i="0">
                <a:solidFill>
                  <a:srgbClr val="556070"/>
                </a:solidFill>
                <a:latin typeface="Calibri"/>
              </a:rPr>
              <a:t>Accuracy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37560" y="2011680"/>
            <a:ext cx="2697480" cy="14630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337560" y="2194560"/>
            <a:ext cx="2697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000" b="1" i="0">
                <a:solidFill>
                  <a:srgbClr val="4C72B0"/>
                </a:solidFill>
                <a:latin typeface="Calibri"/>
              </a:rPr>
              <a:t>0.6974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37560" y="2880360"/>
            <a:ext cx="2697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 i="0">
                <a:solidFill>
                  <a:srgbClr val="556070"/>
                </a:solidFill>
                <a:latin typeface="Calibri"/>
              </a:rPr>
              <a:t>Precision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2011680"/>
            <a:ext cx="2697480" cy="14630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217920" y="2194560"/>
            <a:ext cx="2697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000" b="1" i="0">
                <a:solidFill>
                  <a:srgbClr val="DD8452"/>
                </a:solidFill>
                <a:latin typeface="Calibri"/>
              </a:rPr>
              <a:t>0.3570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2880360"/>
            <a:ext cx="2697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 i="0">
                <a:solidFill>
                  <a:srgbClr val="556070"/>
                </a:solidFill>
                <a:latin typeface="Calibri"/>
              </a:rPr>
              <a:t>Recall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98280" y="2011680"/>
            <a:ext cx="2697480" cy="14630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098280" y="2194560"/>
            <a:ext cx="2697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000" b="1" i="0">
                <a:solidFill>
                  <a:srgbClr val="1F3A5F"/>
                </a:solidFill>
                <a:latin typeface="Calibri"/>
              </a:rPr>
              <a:t>0.4722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98280" y="2880360"/>
            <a:ext cx="2697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 i="0">
                <a:solidFill>
                  <a:srgbClr val="556070"/>
                </a:solidFill>
                <a:latin typeface="Calibri"/>
              </a:rPr>
              <a:t>F1 Score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3703320"/>
            <a:ext cx="5486400" cy="26060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94360" y="3840480"/>
            <a:ext cx="5212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>
                <a:solidFill>
                  <a:srgbClr val="1F3A5F"/>
                </a:solidFill>
                <a:latin typeface="Calibri"/>
              </a:rPr>
              <a:t>How to read these numbers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4343400"/>
            <a:ext cx="52120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>
                <a:solidFill>
                  <a:srgbClr val="1A1A1A"/>
                </a:solidFill>
                <a:latin typeface="Calibri"/>
              </a:rPr>
              <a:t>•  Precision 0.70 → when we say "buyer", we’re right 70% of the time.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>
                <a:solidFill>
                  <a:srgbClr val="1A1A1A"/>
                </a:solidFill>
                <a:latin typeface="Calibri"/>
              </a:rPr>
              <a:t>•  Recall 0.36 → we catch only 36% of the actual buyers.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>
                <a:solidFill>
                  <a:srgbClr val="1A1A1A"/>
                </a:solidFill>
                <a:latin typeface="Calibri"/>
              </a:rPr>
              <a:t>•  High precision, lower recall — a conservative classifier.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7920" y="3703320"/>
            <a:ext cx="5486400" cy="2606040"/>
          </a:xfrm>
          <a:prstGeom prst="roundRect">
            <a:avLst/>
          </a:prstGeom>
          <a:solidFill>
            <a:srgbClr val="1F3A5F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355080" y="3840480"/>
            <a:ext cx="5212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>
                <a:solidFill>
                  <a:srgbClr val="DD8452"/>
                </a:solidFill>
                <a:latin typeface="Calibri"/>
              </a:rPr>
              <a:t>Confusion matrix counts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5080" y="4343400"/>
            <a:ext cx="52120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>
                <a:solidFill>
                  <a:srgbClr val="FFFFFF"/>
                </a:solidFill>
                <a:latin typeface="Calibri"/>
              </a:rPr>
              <a:t>•  TP = 136     (correctly flagged buyers)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>
                <a:solidFill>
                  <a:srgbClr val="FFFFFF"/>
                </a:solidFill>
                <a:latin typeface="Calibri"/>
              </a:rPr>
              <a:t>•  FP =  59     (predicted buy, didn’t)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>
                <a:solidFill>
                  <a:srgbClr val="FFFFFF"/>
                </a:solidFill>
                <a:latin typeface="Calibri"/>
              </a:rPr>
              <a:t>•  FN = 245     (missed buyers — recall pain)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>
                <a:solidFill>
                  <a:srgbClr val="FFFFFF"/>
                </a:solidFill>
                <a:latin typeface="Calibri"/>
              </a:rPr>
              <a:t>•  TN = 2,025   (correctly excluded non-buyers)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492240"/>
            <a:ext cx="7315200" cy="24622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dirty="0">
                <a:solidFill>
                  <a:srgbClr val="556070"/>
                </a:solidFill>
                <a:latin typeface="Calibri"/>
              </a:rPr>
              <a:t>Online Shoppers Purchase-Intention Capstone  |  </a:t>
            </a:r>
            <a:r>
              <a:rPr sz="1000" b="0" i="0" dirty="0" err="1">
                <a:solidFill>
                  <a:srgbClr val="556070"/>
                </a:solidFill>
                <a:latin typeface="Calibri"/>
              </a:rPr>
              <a:t>kNN</a:t>
            </a:r>
            <a:endParaRPr sz="1000" b="0" i="0" dirty="0">
              <a:solidFill>
                <a:srgbClr val="556070"/>
              </a:solidFill>
              <a:latin typeface="Calibri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56070"/>
                </a:solidFill>
                <a:latin typeface="Calibri"/>
              </a:rPr>
              <a:t>Slide 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64008"/>
            <a:ext cx="11612880" cy="36576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07  •  Results — Confusion matrix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F3A5F"/>
                </a:solidFill>
                <a:latin typeface="Calibri"/>
              </a:rPr>
              <a:t>Confusion Matrix — Counts and Row Percentages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1">
                <a:solidFill>
                  <a:srgbClr val="556070"/>
                </a:solidFill>
                <a:latin typeface="Calibri"/>
              </a:rPr>
              <a:t>Where the model is right, and where it pays the cost of class imbalance.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691640"/>
            <a:ext cx="1371600" cy="45720"/>
          </a:xfrm>
          <a:prstGeom prst="rect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365760" y="1920240"/>
            <a:ext cx="8229599" cy="425196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869680" y="1920240"/>
            <a:ext cx="2926080" cy="42976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006840" y="2057400"/>
            <a:ext cx="2651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>
                <a:solidFill>
                  <a:srgbClr val="1F3A5F"/>
                </a:solidFill>
                <a:latin typeface="Calibri"/>
              </a:rPr>
              <a:t>In Plain English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06840" y="2606040"/>
            <a:ext cx="26517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>
                <a:solidFill>
                  <a:srgbClr val="1A1A1A"/>
                </a:solidFill>
                <a:latin typeface="Calibri"/>
              </a:rPr>
              <a:t>•  Most non-buyers are correctly identified (97.2%).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>
                <a:solidFill>
                  <a:srgbClr val="1A1A1A"/>
                </a:solidFill>
                <a:latin typeface="Calibri"/>
              </a:rPr>
              <a:t>•  Most buyers slip through (we catch only 35.7%).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>
                <a:solidFill>
                  <a:srgbClr val="1A1A1A"/>
                </a:solidFill>
                <a:latin typeface="Calibri"/>
              </a:rPr>
              <a:t>•  When we do flag a buyer, we’re usually right.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92240"/>
            <a:ext cx="7315200" cy="24622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dirty="0">
                <a:solidFill>
                  <a:srgbClr val="556070"/>
                </a:solidFill>
                <a:latin typeface="Calibri"/>
              </a:rPr>
              <a:t>Online Shoppers Purchase-Intention Capstone  |  </a:t>
            </a:r>
            <a:r>
              <a:rPr sz="1000" b="0" i="0" dirty="0" err="1">
                <a:solidFill>
                  <a:srgbClr val="556070"/>
                </a:solidFill>
                <a:latin typeface="Calibri"/>
              </a:rPr>
              <a:t>kNN</a:t>
            </a:r>
            <a:endParaRPr sz="1000" b="0" i="0" dirty="0">
              <a:solidFill>
                <a:srgbClr val="556070"/>
              </a:solidFill>
              <a:latin typeface="Calibri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56070"/>
                </a:solidFill>
                <a:latin typeface="Calibri"/>
              </a:rPr>
              <a:t>Slide 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64008"/>
            <a:ext cx="11612880" cy="36576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08  •  Validation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1247120" cy="55399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US" sz="3000" b="1" i="0" dirty="0">
                <a:solidFill>
                  <a:srgbClr val="1F3A5F"/>
                </a:solidFill>
                <a:latin typeface="Calibri"/>
              </a:rPr>
              <a:t>Validation: Stable Across Folds — but a Simple Rule Beats Us</a:t>
            </a:r>
            <a:endParaRPr sz="3000" b="1" i="0" dirty="0">
              <a:solidFill>
                <a:srgbClr val="1F3A5F"/>
              </a:solidFill>
              <a:latin typeface="Calibr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11247120" cy="3231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US" sz="1500" b="0" i="1" dirty="0">
                <a:solidFill>
                  <a:srgbClr val="556070"/>
                </a:solidFill>
                <a:latin typeface="Calibri"/>
              </a:rPr>
              <a:t>5-fold stratified CV confirms stability; but a one-feature </a:t>
            </a:r>
            <a:r>
              <a:rPr lang="en-US" sz="1500" b="0" i="1" dirty="0" err="1">
                <a:solidFill>
                  <a:srgbClr val="556070"/>
                </a:solidFill>
                <a:latin typeface="Calibri"/>
              </a:rPr>
              <a:t>PageValues</a:t>
            </a:r>
            <a:r>
              <a:rPr lang="en-US" sz="1500" b="0" i="1" dirty="0">
                <a:solidFill>
                  <a:srgbClr val="556070"/>
                </a:solidFill>
                <a:latin typeface="Calibri"/>
              </a:rPr>
              <a:t> rule outperforms our </a:t>
            </a:r>
            <a:r>
              <a:rPr lang="en-US" sz="1500" b="0" i="1" dirty="0" err="1">
                <a:solidFill>
                  <a:srgbClr val="556070"/>
                </a:solidFill>
                <a:latin typeface="Calibri"/>
              </a:rPr>
              <a:t>kNN</a:t>
            </a:r>
            <a:r>
              <a:rPr lang="en-US" sz="1500" b="0" i="1" dirty="0">
                <a:solidFill>
                  <a:srgbClr val="556070"/>
                </a:solidFill>
                <a:latin typeface="Calibri"/>
              </a:rPr>
              <a:t>.</a:t>
            </a:r>
            <a:endParaRPr sz="1500" b="0" i="1" dirty="0">
              <a:solidFill>
                <a:srgbClr val="556070"/>
              </a:solidFill>
              <a:latin typeface="Calibri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457200" y="1691640"/>
            <a:ext cx="1371600" cy="45720"/>
          </a:xfrm>
          <a:prstGeom prst="rect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457200" y="1965960"/>
            <a:ext cx="5577840" cy="43891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" y="2103120"/>
            <a:ext cx="5212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>
                <a:solidFill>
                  <a:srgbClr val="1F3A5F"/>
                </a:solidFill>
                <a:latin typeface="Calibri"/>
              </a:rPr>
              <a:t>5-fold Stratified Cross-Validation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65176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dirty="0">
                <a:solidFill>
                  <a:srgbClr val="1A1A1A"/>
                </a:solidFill>
                <a:latin typeface="Calibri"/>
              </a:rPr>
              <a:t>•  Stratified folds preserve the 84.5 / 15.5 class ratio in every fold.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dirty="0">
                <a:solidFill>
                  <a:srgbClr val="1A1A1A"/>
                </a:solidFill>
                <a:latin typeface="Calibri"/>
              </a:rPr>
              <a:t>•  Each fold gets its own train-only standardization (no leakage).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dirty="0">
                <a:solidFill>
                  <a:srgbClr val="1A1A1A"/>
                </a:solidFill>
                <a:latin typeface="Calibri"/>
              </a:rPr>
              <a:t>•  Per-fold metrics are tightly clustered.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dirty="0">
                <a:solidFill>
                  <a:srgbClr val="1A1A1A"/>
                </a:solidFill>
                <a:latin typeface="Calibri"/>
              </a:rPr>
              <a:t>•  Conclusion: the test-set numbers are not a lucky split.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65960"/>
            <a:ext cx="5577840" cy="43891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0" y="2103120"/>
            <a:ext cx="5212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>
                <a:solidFill>
                  <a:srgbClr val="1F3A5F"/>
                </a:solidFill>
                <a:latin typeface="Calibri"/>
              </a:rPr>
              <a:t>Baseline Comparison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697480"/>
            <a:ext cx="2468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556070"/>
                </a:solidFill>
                <a:latin typeface="Calibri"/>
              </a:rPr>
              <a:t>Model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0" y="2697480"/>
            <a:ext cx="1463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>
                <a:solidFill>
                  <a:srgbClr val="556070"/>
                </a:solidFill>
                <a:latin typeface="Calibri"/>
              </a:rPr>
              <a:t>Accuracy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2697480"/>
            <a:ext cx="1280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>
                <a:solidFill>
                  <a:srgbClr val="556070"/>
                </a:solidFill>
                <a:latin typeface="Calibri"/>
              </a:rPr>
              <a:t>F1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3154680"/>
            <a:ext cx="521208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00800" y="3154680"/>
            <a:ext cx="24688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Always "No-Purchase"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69680" y="3154680"/>
            <a:ext cx="14630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 i="0">
                <a:solidFill>
                  <a:srgbClr val="1A1A1A"/>
                </a:solidFill>
                <a:latin typeface="Calibri"/>
              </a:rPr>
              <a:t>0.8454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3154680"/>
            <a:ext cx="12801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 i="0">
                <a:solidFill>
                  <a:srgbClr val="1A1A1A"/>
                </a:solidFill>
                <a:latin typeface="Calibri"/>
              </a:rPr>
              <a:t>0.0000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0" y="3611880"/>
            <a:ext cx="521208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400800" y="3611880"/>
            <a:ext cx="24688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Rule on PageValues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69680" y="3679120"/>
            <a:ext cx="1463040" cy="276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en-PH" sz="1200" b="0" i="0" dirty="0">
                <a:solidFill>
                  <a:srgbClr val="1A1A1A"/>
                </a:solidFill>
                <a:latin typeface="Calibri"/>
              </a:rPr>
              <a:t>0.8929</a:t>
            </a:r>
            <a:endParaRPr sz="1200" b="0" i="0" dirty="0">
              <a:solidFill>
                <a:srgbClr val="1A1A1A"/>
              </a:solidFill>
              <a:latin typeface="Calibri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332720" y="3679120"/>
            <a:ext cx="1280160" cy="276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en-PH" sz="1200" b="0" i="0" dirty="0">
                <a:solidFill>
                  <a:srgbClr val="1A1A1A"/>
                </a:solidFill>
                <a:latin typeface="Calibri"/>
              </a:rPr>
              <a:t>0.6819</a:t>
            </a:r>
            <a:endParaRPr sz="1200" b="0" i="0" dirty="0">
              <a:solidFill>
                <a:srgbClr val="1A1A1A"/>
              </a:solidFill>
              <a:latin typeface="Calibri"/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6400800" y="4069080"/>
            <a:ext cx="5212080" cy="411480"/>
          </a:xfrm>
          <a:prstGeom prst="rect">
            <a:avLst/>
          </a:prstGeom>
          <a:solidFill>
            <a:srgbClr val="DD8452"/>
          </a:solidFill>
          <a:ln w="6350"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400800" y="4069080"/>
            <a:ext cx="24688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kNN (k = 7) — our model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69680" y="4136320"/>
            <a:ext cx="1463040" cy="276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i="0" dirty="0">
                <a:solidFill>
                  <a:srgbClr val="FFFFFF"/>
                </a:solidFill>
                <a:latin typeface="Calibri"/>
              </a:rPr>
              <a:t>0.8767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332720" y="4136320"/>
            <a:ext cx="1280160" cy="276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i="0" dirty="0">
                <a:solidFill>
                  <a:srgbClr val="FFFFFF"/>
                </a:solidFill>
                <a:latin typeface="Calibri"/>
              </a:rPr>
              <a:t>0.4722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4754880"/>
            <a:ext cx="5212080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US" sz="1200" b="0" i="1" dirty="0">
                <a:solidFill>
                  <a:srgbClr val="556070"/>
                </a:solidFill>
                <a:latin typeface="Calibri"/>
              </a:rPr>
              <a:t>The </a:t>
            </a:r>
            <a:r>
              <a:rPr lang="en-US" sz="1200" b="0" i="1" dirty="0" err="1">
                <a:solidFill>
                  <a:srgbClr val="556070"/>
                </a:solidFill>
                <a:latin typeface="Calibri"/>
              </a:rPr>
              <a:t>PageValues</a:t>
            </a:r>
            <a:r>
              <a:rPr lang="en-US" sz="1200" b="0" i="1" dirty="0">
                <a:solidFill>
                  <a:srgbClr val="556070"/>
                </a:solidFill>
                <a:latin typeface="Calibri"/>
              </a:rPr>
              <a:t> rule beats </a:t>
            </a:r>
            <a:r>
              <a:rPr lang="en-US" sz="1200" b="0" i="1" dirty="0" err="1">
                <a:solidFill>
                  <a:srgbClr val="556070"/>
                </a:solidFill>
                <a:latin typeface="Calibri"/>
              </a:rPr>
              <a:t>kNN</a:t>
            </a:r>
            <a:r>
              <a:rPr lang="en-US" sz="1200" b="0" i="1" dirty="0">
                <a:solidFill>
                  <a:srgbClr val="556070"/>
                </a:solidFill>
                <a:latin typeface="Calibri"/>
              </a:rPr>
              <a:t> on F1 — </a:t>
            </a:r>
            <a:r>
              <a:rPr lang="en-US" sz="1200" b="0" i="1" dirty="0" err="1">
                <a:solidFill>
                  <a:srgbClr val="556070"/>
                </a:solidFill>
                <a:latin typeface="Calibri"/>
              </a:rPr>
              <a:t>kNN</a:t>
            </a:r>
            <a:r>
              <a:rPr lang="en-US" sz="1200" b="0" i="1" dirty="0">
                <a:solidFill>
                  <a:srgbClr val="556070"/>
                </a:solidFill>
                <a:latin typeface="Calibri"/>
              </a:rPr>
              <a:t> dilutes the dominant signal across 28 features. A humbling, instructive result.</a:t>
            </a:r>
            <a:endParaRPr sz="1200" b="0" i="1" dirty="0">
              <a:solidFill>
                <a:srgbClr val="556070"/>
              </a:solidFill>
              <a:latin typeface="Calibri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457200" y="6492240"/>
            <a:ext cx="7315200" cy="24622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dirty="0">
                <a:solidFill>
                  <a:srgbClr val="556070"/>
                </a:solidFill>
                <a:latin typeface="Calibri"/>
              </a:rPr>
              <a:t>Online Shoppers Purchase-Intention Capstone  |  </a:t>
            </a:r>
            <a:r>
              <a:rPr sz="1000" b="0" i="0" dirty="0" err="1">
                <a:solidFill>
                  <a:srgbClr val="556070"/>
                </a:solidFill>
                <a:latin typeface="Calibri"/>
              </a:rPr>
              <a:t>kNN</a:t>
            </a:r>
            <a:endParaRPr sz="1000" b="0" i="0" dirty="0">
              <a:solidFill>
                <a:srgbClr val="556070"/>
              </a:solidFill>
              <a:latin typeface="Calibri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56070"/>
                </a:solidFill>
                <a:latin typeface="Calibri"/>
              </a:rPr>
              <a:t>Slide 16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64008"/>
            <a:ext cx="11612880" cy="36576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09  •  Discussion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F3A5F"/>
                </a:solidFill>
                <a:latin typeface="Calibri"/>
              </a:rPr>
              <a:t>What the Numbers Mean for the Business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1">
                <a:solidFill>
                  <a:srgbClr val="556070"/>
                </a:solidFill>
                <a:latin typeface="Calibri"/>
              </a:rPr>
              <a:t>A high-precision, lower-recall classifier — useful for some interventions, weak for others.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691640"/>
            <a:ext cx="1371600" cy="45720"/>
          </a:xfrm>
          <a:prstGeom prst="rect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457200" y="1965960"/>
            <a:ext cx="5577840" cy="42976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" y="2103120"/>
            <a:ext cx="5212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>
                <a:solidFill>
                  <a:srgbClr val="1F3A5F"/>
                </a:solidFill>
                <a:latin typeface="Calibri"/>
              </a:rPr>
              <a:t>Good Fit If…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651760"/>
            <a:ext cx="52120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  <a:latin typeface="Calibri"/>
              </a:rPr>
              <a:t>•  Acting on a non-buyer is expensive (e.g., heavy discount, live agent).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  <a:latin typeface="Calibri"/>
              </a:rPr>
              <a:t>•  You want fewer-but-confident alerts, not blanket coverage.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  <a:latin typeface="Calibri"/>
              </a:rPr>
              <a:t>•  You can pair this model with low-cost site-wide nudges that catch the rest.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65960"/>
            <a:ext cx="5577840" cy="4297680"/>
          </a:xfrm>
          <a:prstGeom prst="roundRect">
            <a:avLst/>
          </a:prstGeom>
          <a:solidFill>
            <a:srgbClr val="1F3A5F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0" y="2103120"/>
            <a:ext cx="5212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>
                <a:solidFill>
                  <a:srgbClr val="DD8452"/>
                </a:solidFill>
                <a:latin typeface="Calibri"/>
              </a:rPr>
              <a:t>Bad Fit If…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651760"/>
            <a:ext cx="52120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>
                <a:solidFill>
                  <a:srgbClr val="FFFFFF"/>
                </a:solidFill>
                <a:latin typeface="Calibri"/>
              </a:rPr>
              <a:t>•  Missed buyers are far more costly than wasted offers.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>
                <a:solidFill>
                  <a:srgbClr val="FFFFFF"/>
                </a:solidFill>
                <a:latin typeface="Calibri"/>
              </a:rPr>
              <a:t>•  The product needs blanket personalization (recall matters more than precision).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>
                <a:solidFill>
                  <a:srgbClr val="FFFFFF"/>
                </a:solidFill>
                <a:latin typeface="Calibri"/>
              </a:rPr>
              <a:t>•  You need calibrated probabilities, not hard predictions.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92240"/>
            <a:ext cx="7315200" cy="24622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dirty="0">
                <a:solidFill>
                  <a:srgbClr val="556070"/>
                </a:solidFill>
                <a:latin typeface="Calibri"/>
              </a:rPr>
              <a:t>Online Shoppers Purchase-Intention Capstone  |  </a:t>
            </a:r>
            <a:r>
              <a:rPr sz="1000" b="0" i="0" dirty="0" err="1">
                <a:solidFill>
                  <a:srgbClr val="556070"/>
                </a:solidFill>
                <a:latin typeface="Calibri"/>
              </a:rPr>
              <a:t>kNN</a:t>
            </a:r>
            <a:endParaRPr sz="1000" b="0" i="0" dirty="0">
              <a:solidFill>
                <a:srgbClr val="556070"/>
              </a:solidFill>
              <a:latin typeface="Calibri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56070"/>
                </a:solidFill>
                <a:latin typeface="Calibri"/>
              </a:rPr>
              <a:t>Slide 17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64008"/>
            <a:ext cx="11612880" cy="36576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10  •  Limitations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F3A5F"/>
                </a:solidFill>
                <a:latin typeface="Calibri"/>
              </a:rPr>
              <a:t>Honest Limitations of This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1" dirty="0">
                <a:solidFill>
                  <a:srgbClr val="556070"/>
                </a:solidFill>
                <a:latin typeface="Calibri"/>
              </a:rPr>
              <a:t>A capstone is judged by candor as much as by score.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691640"/>
            <a:ext cx="1371600" cy="45720"/>
          </a:xfrm>
          <a:prstGeom prst="rect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57200" y="2029968"/>
            <a:ext cx="118872" cy="548640"/>
          </a:xfrm>
          <a:prstGeom prst="rect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31520" y="1965960"/>
            <a:ext cx="31089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1F3A5F"/>
                </a:solidFill>
                <a:latin typeface="Calibri"/>
              </a:rPr>
              <a:t>Imbalance not treated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1965960"/>
            <a:ext cx="77724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 dirty="0">
                <a:solidFill>
                  <a:srgbClr val="1A1A1A"/>
                </a:solidFill>
                <a:latin typeface="Calibri"/>
              </a:rPr>
              <a:t>No SMOTE, no class weighting, no threshold tuning, no distance-weighted voting. The recall ceiling is largely a consequence of this.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743200"/>
            <a:ext cx="118872" cy="548640"/>
          </a:xfrm>
          <a:prstGeom prst="rect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31520" y="2679192"/>
            <a:ext cx="31089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1F3A5F"/>
                </a:solidFill>
                <a:latin typeface="Calibri"/>
              </a:rPr>
              <a:t>Multicollinearity left 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2679192"/>
            <a:ext cx="77724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BounceRates / ExitRates (r = 0.913) and ProductRelated / *_Duration (r = 0.861) double-count behavior in distance.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456432"/>
            <a:ext cx="118872" cy="548640"/>
          </a:xfrm>
          <a:prstGeom prst="rect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31520" y="3392424"/>
            <a:ext cx="31089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1F3A5F"/>
                </a:solidFill>
                <a:latin typeface="Calibri"/>
              </a:rPr>
              <a:t>One-hot inflates the distance space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31920" y="3392424"/>
            <a:ext cx="77724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 dirty="0">
                <a:solidFill>
                  <a:srgbClr val="1A1A1A"/>
                </a:solidFill>
                <a:latin typeface="Calibri"/>
              </a:rPr>
              <a:t>13 binary one-hot columns sit alongside 14 continuous ones in the same Euclidean geometry — distorts neighbor selection slightly.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169664"/>
            <a:ext cx="118872" cy="548640"/>
          </a:xfrm>
          <a:prstGeom prst="rect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31520" y="4148697"/>
            <a:ext cx="3108960" cy="55399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en-US" sz="1500" b="1" i="0" dirty="0">
                <a:solidFill>
                  <a:srgbClr val="1F3A5F"/>
                </a:solidFill>
                <a:latin typeface="Calibri"/>
              </a:rPr>
              <a:t>A one-feature </a:t>
            </a:r>
            <a:r>
              <a:rPr lang="en-US" sz="1500" b="1" i="0" dirty="0" err="1">
                <a:solidFill>
                  <a:srgbClr val="1F3A5F"/>
                </a:solidFill>
                <a:latin typeface="Calibri"/>
              </a:rPr>
              <a:t>PageValues</a:t>
            </a:r>
            <a:r>
              <a:rPr lang="en-US" sz="1500" b="1" i="0" dirty="0">
                <a:solidFill>
                  <a:srgbClr val="1F3A5F"/>
                </a:solidFill>
                <a:latin typeface="Calibri"/>
              </a:rPr>
              <a:t> rule beats the full model </a:t>
            </a:r>
            <a:endParaRPr sz="1500" b="1" i="0" dirty="0">
              <a:solidFill>
                <a:srgbClr val="1F3A5F"/>
              </a:solidFill>
              <a:latin typeface="Calibri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3931920" y="4287196"/>
            <a:ext cx="7772400" cy="276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en-US" sz="1200" b="0" i="0" dirty="0" err="1">
                <a:solidFill>
                  <a:srgbClr val="1A1A1A"/>
                </a:solidFill>
                <a:latin typeface="Calibri"/>
              </a:rPr>
              <a:t>kNN</a:t>
            </a:r>
            <a:r>
              <a:rPr lang="en-US" sz="1200" b="0" i="0" dirty="0">
                <a:solidFill>
                  <a:srgbClr val="1A1A1A"/>
                </a:solidFill>
                <a:latin typeface="Calibri"/>
              </a:rPr>
              <a:t> doesn't do feature selection.</a:t>
            </a:r>
            <a:endParaRPr sz="1200" b="0" i="0" dirty="0">
              <a:solidFill>
                <a:srgbClr val="1A1A1A"/>
              </a:solidFill>
              <a:latin typeface="Calibri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457200" y="4882896"/>
            <a:ext cx="118872" cy="548640"/>
          </a:xfrm>
          <a:prstGeom prst="rect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31520" y="4818888"/>
            <a:ext cx="31089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1F3A5F"/>
                </a:solidFill>
                <a:latin typeface="Calibri"/>
              </a:rPr>
              <a:t>Only Euclidean + uniform vote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31920" y="4818888"/>
            <a:ext cx="77724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No Manhattan / Mahalanobis / weighted-vote experiments. Distance-weighted voting in particular is known to help on imbalanced data.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5596128"/>
            <a:ext cx="118872" cy="548640"/>
          </a:xfrm>
          <a:prstGeom prst="rect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31520" y="5532120"/>
            <a:ext cx="31089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 dirty="0">
                <a:solidFill>
                  <a:srgbClr val="1F3A5F"/>
                </a:solidFill>
                <a:latin typeface="Calibri"/>
              </a:rPr>
              <a:t>No ROC / probability output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31920" y="5532120"/>
            <a:ext cx="77724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Reported only point classification metrics. ROC + AUC would visualize the full precision-recall trade-off.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492240"/>
            <a:ext cx="7315200" cy="24622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dirty="0">
                <a:solidFill>
                  <a:srgbClr val="556070"/>
                </a:solidFill>
                <a:latin typeface="Calibri"/>
              </a:rPr>
              <a:t>Online Shoppers Purchase-Intention Capstone  |  </a:t>
            </a:r>
            <a:r>
              <a:rPr sz="1000" b="0" i="0" dirty="0" err="1">
                <a:solidFill>
                  <a:srgbClr val="556070"/>
                </a:solidFill>
                <a:latin typeface="Calibri"/>
              </a:rPr>
              <a:t>kNN</a:t>
            </a:r>
            <a:endParaRPr sz="1000" b="0" i="0" dirty="0">
              <a:solidFill>
                <a:srgbClr val="556070"/>
              </a:solidFill>
              <a:latin typeface="Calibri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56070"/>
                </a:solidFill>
                <a:latin typeface="Calibri"/>
              </a:rPr>
              <a:t>Slide 18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64008"/>
            <a:ext cx="11612880" cy="36576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11  •  Future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F3A5F"/>
                </a:solidFill>
                <a:latin typeface="Calibri"/>
              </a:rPr>
              <a:t>What We Would Try Next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1">
                <a:solidFill>
                  <a:srgbClr val="556070"/>
                </a:solidFill>
                <a:latin typeface="Calibri"/>
              </a:rPr>
              <a:t>Concrete improvements that follow directly from the limitations on the previous slide.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691640"/>
            <a:ext cx="1371600" cy="45720"/>
          </a:xfrm>
          <a:prstGeom prst="rect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457200" y="2057400"/>
            <a:ext cx="502920" cy="502920"/>
          </a:xfrm>
          <a:prstGeom prst="ellipse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2057400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1965960"/>
            <a:ext cx="32004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1F3A5F"/>
                </a:solidFill>
                <a:latin typeface="Calibri"/>
              </a:rPr>
              <a:t>Distance-weighted voting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34840" y="1965960"/>
            <a:ext cx="72237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Closer neighbors count more. Cheap to add; usually the single biggest win on imbalanced data.</a:t>
            </a:r>
          </a:p>
        </p:txBody>
      </p:sp>
      <p:sp>
        <p:nvSpPr>
          <p:cNvPr id="12" name="Oval 11"/>
          <p:cNvSpPr/>
          <p:nvPr/>
        </p:nvSpPr>
        <p:spPr>
          <a:xfrm>
            <a:off x="457200" y="2770632"/>
            <a:ext cx="502920" cy="502920"/>
          </a:xfrm>
          <a:prstGeom prst="ellipse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7200" y="2770632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2679192"/>
            <a:ext cx="32004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1F3A5F"/>
                </a:solidFill>
                <a:latin typeface="Calibri"/>
              </a:rPr>
              <a:t>Threshold tuning on the kNN score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34840" y="2679192"/>
            <a:ext cx="72237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Use k_pos / k as a soft probability and pick the threshold by Youden’s J or by business cost.</a:t>
            </a:r>
          </a:p>
        </p:txBody>
      </p:sp>
      <p:sp>
        <p:nvSpPr>
          <p:cNvPr id="16" name="Oval 15"/>
          <p:cNvSpPr/>
          <p:nvPr/>
        </p:nvSpPr>
        <p:spPr>
          <a:xfrm>
            <a:off x="457200" y="3483864"/>
            <a:ext cx="502920" cy="502920"/>
          </a:xfrm>
          <a:prstGeom prst="ellipse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57200" y="3483864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3392424"/>
            <a:ext cx="32004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1F3A5F"/>
                </a:solidFill>
                <a:latin typeface="Calibri"/>
              </a:rPr>
              <a:t>Resampling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34840" y="3392424"/>
            <a:ext cx="72237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SMOTE oversampling of the minority class (or principled under-sampling of the majority).</a:t>
            </a:r>
          </a:p>
        </p:txBody>
      </p:sp>
      <p:sp>
        <p:nvSpPr>
          <p:cNvPr id="20" name="Oval 19"/>
          <p:cNvSpPr/>
          <p:nvPr/>
        </p:nvSpPr>
        <p:spPr>
          <a:xfrm>
            <a:off x="457200" y="4197096"/>
            <a:ext cx="502920" cy="502920"/>
          </a:xfrm>
          <a:prstGeom prst="ellipse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57200" y="4197096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" y="4105656"/>
            <a:ext cx="32004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1F3A5F"/>
                </a:solidFill>
                <a:latin typeface="Calibri"/>
              </a:rPr>
              <a:t>Feature redundancy cleanup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34840" y="4105656"/>
            <a:ext cx="72237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Drop ExitRates (keep BounceRates) and ProductRelated_Duration (keep ProductRelated), or run PCA.</a:t>
            </a:r>
          </a:p>
        </p:txBody>
      </p:sp>
      <p:sp>
        <p:nvSpPr>
          <p:cNvPr id="24" name="Oval 23"/>
          <p:cNvSpPr/>
          <p:nvPr/>
        </p:nvSpPr>
        <p:spPr>
          <a:xfrm>
            <a:off x="457200" y="4910328"/>
            <a:ext cx="502920" cy="502920"/>
          </a:xfrm>
          <a:prstGeom prst="ellipse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57200" y="4910328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3000" y="4818888"/>
            <a:ext cx="32004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1F3A5F"/>
                </a:solidFill>
                <a:latin typeface="Calibri"/>
              </a:rPr>
              <a:t>Cleaner tuning protocol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34840" y="4818888"/>
            <a:ext cx="72237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Hold out a true validation split or use nested CV so the test set is touched exactly once.</a:t>
            </a:r>
          </a:p>
        </p:txBody>
      </p:sp>
      <p:sp>
        <p:nvSpPr>
          <p:cNvPr id="28" name="Oval 27"/>
          <p:cNvSpPr/>
          <p:nvPr/>
        </p:nvSpPr>
        <p:spPr>
          <a:xfrm>
            <a:off x="457200" y="5623560"/>
            <a:ext cx="502920" cy="502920"/>
          </a:xfrm>
          <a:prstGeom prst="ellipse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57200" y="5623560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3000" y="5532120"/>
            <a:ext cx="32004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1F3A5F"/>
                </a:solidFill>
                <a:latin typeface="Calibri"/>
              </a:rPr>
              <a:t>Compare against tuned baselines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34840" y="5532120"/>
            <a:ext cx="72237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Logistic regression, random forest, gradient boosting — to position kNN against the literature on this dataset.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6492240"/>
            <a:ext cx="7315200" cy="24622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dirty="0">
                <a:solidFill>
                  <a:srgbClr val="556070"/>
                </a:solidFill>
                <a:latin typeface="Calibri"/>
              </a:rPr>
              <a:t>Online Shoppers Purchase-Intention Capstone  |  </a:t>
            </a:r>
            <a:r>
              <a:rPr sz="1000" b="0" i="0" dirty="0" err="1">
                <a:solidFill>
                  <a:srgbClr val="556070"/>
                </a:solidFill>
                <a:latin typeface="Calibri"/>
              </a:rPr>
              <a:t>kNN</a:t>
            </a:r>
            <a:endParaRPr sz="1000" b="0" i="0" dirty="0">
              <a:solidFill>
                <a:srgbClr val="556070"/>
              </a:solidFill>
              <a:latin typeface="Calibri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56070"/>
                </a:solidFill>
                <a:latin typeface="Calibri"/>
              </a:rPr>
              <a:t>Slide 19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64008"/>
            <a:ext cx="11612880" cy="36576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12  •  Takeaways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F3A5F"/>
                </a:solidFill>
                <a:latin typeface="Calibri"/>
              </a:rPr>
              <a:t>Five Things to Take Away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691640"/>
            <a:ext cx="1371600" cy="45720"/>
          </a:xfrm>
          <a:prstGeom prst="rect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640080" y="2286000"/>
            <a:ext cx="548640" cy="548640"/>
          </a:xfrm>
          <a:prstGeom prst="ellipse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" y="228600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 i="0" dirty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2413903"/>
            <a:ext cx="10241280" cy="33855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 i="0" dirty="0">
                <a:solidFill>
                  <a:srgbClr val="1A1A1A"/>
                </a:solidFill>
                <a:latin typeface="Calibri"/>
              </a:rPr>
              <a:t>A </a:t>
            </a:r>
            <a:r>
              <a:rPr sz="1600" b="0" i="0" dirty="0" err="1">
                <a:solidFill>
                  <a:srgbClr val="1A1A1A"/>
                </a:solidFill>
                <a:latin typeface="Calibri"/>
              </a:rPr>
              <a:t>kNN</a:t>
            </a:r>
            <a:r>
              <a:rPr sz="1600" b="0" i="0" dirty="0">
                <a:solidFill>
                  <a:srgbClr val="1A1A1A"/>
                </a:solidFill>
                <a:latin typeface="Calibri"/>
              </a:rPr>
              <a:t> classifier</a:t>
            </a:r>
            <a:r>
              <a:rPr lang="en-US" sz="1600" b="0" i="0" dirty="0">
                <a:solidFill>
                  <a:srgbClr val="1A1A1A"/>
                </a:solidFill>
                <a:latin typeface="Calibri"/>
              </a:rPr>
              <a:t> </a:t>
            </a:r>
            <a:r>
              <a:rPr sz="1600" b="0" i="0" dirty="0">
                <a:solidFill>
                  <a:srgbClr val="1A1A1A"/>
                </a:solidFill>
                <a:latin typeface="Calibri"/>
              </a:rPr>
              <a:t>can learn real, transferable signal from web-session data.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3063240"/>
            <a:ext cx="548640" cy="548640"/>
          </a:xfrm>
          <a:prstGeom prst="ellipse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0080" y="306324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297180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 i="0" dirty="0">
                <a:solidFill>
                  <a:srgbClr val="1A1A1A"/>
                </a:solidFill>
                <a:latin typeface="Calibri"/>
              </a:rPr>
              <a:t>On the UCI Online Shoppers data, k = 7 gave 87.67% accuracy and 0.47 F1 on a held-out test set.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3840480"/>
            <a:ext cx="548640" cy="548640"/>
          </a:xfrm>
          <a:prstGeom prst="ellipse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0080" y="384048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374904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 i="0" dirty="0">
                <a:solidFill>
                  <a:srgbClr val="1A1A1A"/>
                </a:solidFill>
                <a:latin typeface="Calibri"/>
              </a:rPr>
              <a:t>Class imbalance is the single most important factor shaping these numbers.</a:t>
            </a:r>
          </a:p>
        </p:txBody>
      </p:sp>
      <p:sp>
        <p:nvSpPr>
          <p:cNvPr id="16" name="Oval 15"/>
          <p:cNvSpPr/>
          <p:nvPr/>
        </p:nvSpPr>
        <p:spPr>
          <a:xfrm>
            <a:off x="640080" y="4617720"/>
            <a:ext cx="548640" cy="548640"/>
          </a:xfrm>
          <a:prstGeom prst="ellipse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0080" y="46177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20" y="452628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 i="0" dirty="0">
                <a:solidFill>
                  <a:srgbClr val="1A1A1A"/>
                </a:solidFill>
                <a:latin typeface="Calibri"/>
              </a:rPr>
              <a:t>High precision (0.70), low recall (0.36) — choose the algorithm that matches your cost structure.</a:t>
            </a:r>
          </a:p>
        </p:txBody>
      </p:sp>
      <p:sp>
        <p:nvSpPr>
          <p:cNvPr id="19" name="Oval 18"/>
          <p:cNvSpPr/>
          <p:nvPr/>
        </p:nvSpPr>
        <p:spPr>
          <a:xfrm>
            <a:off x="640080" y="5394960"/>
            <a:ext cx="548640" cy="548640"/>
          </a:xfrm>
          <a:prstGeom prst="ellipse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40080" y="539496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17320" y="530352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 i="0" dirty="0">
                <a:solidFill>
                  <a:srgbClr val="1A1A1A"/>
                </a:solidFill>
                <a:latin typeface="Calibri"/>
              </a:rPr>
              <a:t>The biggest improvements aren’t in tuning more k values. They are in handling imbalance, removing redundant features, and using a clean validation protocol.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92240"/>
            <a:ext cx="7315200" cy="24622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dirty="0">
                <a:solidFill>
                  <a:srgbClr val="556070"/>
                </a:solidFill>
                <a:latin typeface="Calibri"/>
              </a:rPr>
              <a:t>Online Shoppers Purchase-Intention Capstone  |  </a:t>
            </a:r>
            <a:r>
              <a:rPr sz="1000" b="0" i="0" dirty="0" err="1">
                <a:solidFill>
                  <a:srgbClr val="556070"/>
                </a:solidFill>
                <a:latin typeface="Calibri"/>
              </a:rPr>
              <a:t>kNN</a:t>
            </a:r>
            <a:endParaRPr sz="1000" b="0" i="0" dirty="0">
              <a:solidFill>
                <a:srgbClr val="556070"/>
              </a:solidFill>
              <a:latin typeface="Calibri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56070"/>
                </a:solidFill>
                <a:latin typeface="Calibri"/>
              </a:rPr>
              <a:t>Slide 20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1463040"/>
          </a:xfrm>
          <a:prstGeom prst="rect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2471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5400" b="1" i="0">
                <a:solidFill>
                  <a:srgbClr val="FFFFFF"/>
                </a:solidFill>
                <a:latin typeface="Calibri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471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Questions &amp; Discussion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47120" cy="3693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0" dirty="0">
                <a:solidFill>
                  <a:srgbClr val="FFFFFF"/>
                </a:solidFill>
                <a:latin typeface="Calibri"/>
              </a:rPr>
              <a:t>Predicting Online Shoppers’ Purchase Intention  •  </a:t>
            </a:r>
            <a:r>
              <a:rPr sz="1800" b="0" i="0" dirty="0" err="1">
                <a:solidFill>
                  <a:srgbClr val="FFFFFF"/>
                </a:solidFill>
                <a:latin typeface="Calibri"/>
              </a:rPr>
              <a:t>kNN</a:t>
            </a:r>
            <a:endParaRPr sz="1800" b="0" i="0" dirty="0">
              <a:solidFill>
                <a:srgbClr val="FFFFFF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237</TotalTime>
  <Words>2300</Words>
  <Application>Microsoft Office PowerPoint</Application>
  <PresentationFormat>Widescreen</PresentationFormat>
  <Paragraphs>347</Paragraphs>
  <Slides>22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Rodnee</cp:lastModifiedBy>
  <cp:revision>30</cp:revision>
  <dcterms:created xsi:type="dcterms:W3CDTF">2013-01-27T09:14:16Z</dcterms:created>
  <dcterms:modified xsi:type="dcterms:W3CDTF">2026-05-23T02:37:55Z</dcterms:modified>
  <cp:category/>
</cp:coreProperties>
</file>